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heme/theme5.xml" ContentType="application/vnd.openxmlformats-officedocument.theme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notesSlides/notesSlide1.xml" ContentType="application/vnd.openxmlformats-officedocument.presentationml.notesSlide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11"/>
  </p:notesMasterIdLst>
  <p:sldIdLst>
    <p:sldId id="257" r:id="rId5"/>
    <p:sldId id="259" r:id="rId6"/>
    <p:sldId id="260" r:id="rId7"/>
    <p:sldId id="261" r:id="rId8"/>
    <p:sldId id="262" r:id="rId9"/>
    <p:sldId id="263" r:id="rId10"/>
  </p:sldIdLst>
  <p:sldSz cx="13003213" cy="195072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44" userDrawn="1">
          <p15:clr>
            <a:srgbClr val="A4A3A4"/>
          </p15:clr>
        </p15:guide>
        <p15:guide id="2" pos="40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E9DB"/>
    <a:srgbClr val="965B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25" d="100"/>
          <a:sy n="25" d="100"/>
        </p:scale>
        <p:origin x="1952" y="12"/>
      </p:cViewPr>
      <p:guideLst>
        <p:guide orient="horz" pos="6144"/>
        <p:guide pos="40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00490" y="1143000"/>
            <a:ext cx="205702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202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400300" y="1143000"/>
            <a:ext cx="2057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6844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39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3.xml"/><Relationship Id="rId4" Type="http://schemas.openxmlformats.org/officeDocument/2006/relationships/tags" Target="../tags/tag57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62.xml"/><Relationship Id="rId4" Type="http://schemas.openxmlformats.org/officeDocument/2006/relationships/tags" Target="../tags/tag6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72.xml"/><Relationship Id="rId4" Type="http://schemas.openxmlformats.org/officeDocument/2006/relationships/tags" Target="../tags/tag7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77.xml"/><Relationship Id="rId4" Type="http://schemas.openxmlformats.org/officeDocument/2006/relationships/tags" Target="../tags/tag76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82.xml"/><Relationship Id="rId4" Type="http://schemas.openxmlformats.org/officeDocument/2006/relationships/tags" Target="../tags/tag8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9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100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4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114.xml"/><Relationship Id="rId4" Type="http://schemas.openxmlformats.org/officeDocument/2006/relationships/tags" Target="../tags/tag113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118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123.xml"/><Relationship Id="rId4" Type="http://schemas.openxmlformats.org/officeDocument/2006/relationships/tags" Target="../tags/tag12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25400" y="3192696"/>
            <a:ext cx="9752399" cy="6791814"/>
          </a:xfrm>
        </p:spPr>
        <p:txBody>
          <a:bodyPr anchor="b"/>
          <a:lstStyle>
            <a:lvl1pPr algn="ctr">
              <a:defRPr sz="853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25400" y="10246428"/>
            <a:ext cx="9752399" cy="4710013"/>
          </a:xfrm>
        </p:spPr>
        <p:txBody>
          <a:bodyPr/>
          <a:lstStyle>
            <a:lvl1pPr marL="0" indent="0" algn="ctr">
              <a:buNone/>
              <a:defRPr sz="3415"/>
            </a:lvl1pPr>
            <a:lvl2pPr marL="650240" indent="0" algn="ctr">
              <a:buNone/>
              <a:defRPr sz="2845"/>
            </a:lvl2pPr>
            <a:lvl3pPr marL="1300480" indent="0" algn="ctr">
              <a:buNone/>
              <a:defRPr sz="2560"/>
            </a:lvl3pPr>
            <a:lvl4pPr marL="1950720" indent="0" algn="ctr">
              <a:buNone/>
              <a:defRPr sz="2275"/>
            </a:lvl4pPr>
            <a:lvl5pPr marL="2600325" indent="0" algn="ctr">
              <a:buNone/>
              <a:defRPr sz="2275"/>
            </a:lvl5pPr>
            <a:lvl6pPr marL="3250565" indent="0" algn="ctr">
              <a:buNone/>
              <a:defRPr sz="2275"/>
            </a:lvl6pPr>
            <a:lvl7pPr marL="3900805" indent="0" algn="ctr">
              <a:buNone/>
              <a:defRPr sz="2275"/>
            </a:lvl7pPr>
            <a:lvl8pPr marL="4551045" indent="0" algn="ctr">
              <a:buNone/>
              <a:defRPr sz="2275"/>
            </a:lvl8pPr>
            <a:lvl9pPr marL="5201285" indent="0" algn="ctr">
              <a:buNone/>
              <a:defRPr sz="227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7197" y="4863554"/>
            <a:ext cx="11215259" cy="8114951"/>
          </a:xfrm>
        </p:spPr>
        <p:txBody>
          <a:bodyPr anchor="b"/>
          <a:lstStyle>
            <a:lvl1pPr>
              <a:defRPr sz="853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7197" y="13055276"/>
            <a:ext cx="11215259" cy="4267461"/>
          </a:xfrm>
        </p:spPr>
        <p:txBody>
          <a:bodyPr/>
          <a:lstStyle>
            <a:lvl1pPr marL="0" indent="0">
              <a:buNone/>
              <a:defRPr sz="3415">
                <a:solidFill>
                  <a:schemeClr val="tx1">
                    <a:tint val="75000"/>
                  </a:schemeClr>
                </a:solidFill>
              </a:defRPr>
            </a:lvl1pPr>
            <a:lvl2pPr marL="650240" indent="0">
              <a:buNone/>
              <a:defRPr sz="2845">
                <a:solidFill>
                  <a:schemeClr val="tx1">
                    <a:tint val="75000"/>
                  </a:schemeClr>
                </a:solidFill>
              </a:defRPr>
            </a:lvl2pPr>
            <a:lvl3pPr marL="130048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195072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4pPr>
            <a:lvl5pPr marL="2600325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5pPr>
            <a:lvl6pPr marL="3250565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6pPr>
            <a:lvl7pPr marL="3900805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7pPr>
            <a:lvl8pPr marL="4551045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8pPr>
            <a:lvl9pPr marL="5201285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3970" y="5193208"/>
            <a:ext cx="5526360" cy="1237790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82869" y="5193208"/>
            <a:ext cx="5526360" cy="1237790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5664" y="1038642"/>
            <a:ext cx="11215259" cy="377072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5664" y="4782269"/>
            <a:ext cx="5500962" cy="2343716"/>
          </a:xfrm>
        </p:spPr>
        <p:txBody>
          <a:bodyPr anchor="b"/>
          <a:lstStyle>
            <a:lvl1pPr marL="0" indent="0">
              <a:buNone/>
              <a:defRPr sz="3415" b="1"/>
            </a:lvl1pPr>
            <a:lvl2pPr marL="650240" indent="0">
              <a:buNone/>
              <a:defRPr sz="2845" b="1"/>
            </a:lvl2pPr>
            <a:lvl3pPr marL="1300480" indent="0">
              <a:buNone/>
              <a:defRPr sz="2560" b="1"/>
            </a:lvl3pPr>
            <a:lvl4pPr marL="1950720" indent="0">
              <a:buNone/>
              <a:defRPr sz="2275" b="1"/>
            </a:lvl4pPr>
            <a:lvl5pPr marL="2600325" indent="0">
              <a:buNone/>
              <a:defRPr sz="2275" b="1"/>
            </a:lvl5pPr>
            <a:lvl6pPr marL="3250565" indent="0">
              <a:buNone/>
              <a:defRPr sz="2275" b="1"/>
            </a:lvl6pPr>
            <a:lvl7pPr marL="3900805" indent="0">
              <a:buNone/>
              <a:defRPr sz="2275" b="1"/>
            </a:lvl7pPr>
            <a:lvl8pPr marL="4551045" indent="0">
              <a:buNone/>
              <a:defRPr sz="2275" b="1"/>
            </a:lvl8pPr>
            <a:lvl9pPr marL="5201285" indent="0">
              <a:buNone/>
              <a:defRPr sz="2275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5664" y="7125985"/>
            <a:ext cx="5500962" cy="1048125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82869" y="4782269"/>
            <a:ext cx="5528053" cy="2343716"/>
          </a:xfrm>
        </p:spPr>
        <p:txBody>
          <a:bodyPr anchor="b"/>
          <a:lstStyle>
            <a:lvl1pPr marL="0" indent="0">
              <a:buNone/>
              <a:defRPr sz="3415" b="1"/>
            </a:lvl1pPr>
            <a:lvl2pPr marL="650240" indent="0">
              <a:buNone/>
              <a:defRPr sz="2845" b="1"/>
            </a:lvl2pPr>
            <a:lvl3pPr marL="1300480" indent="0">
              <a:buNone/>
              <a:defRPr sz="2560" b="1"/>
            </a:lvl3pPr>
            <a:lvl4pPr marL="1950720" indent="0">
              <a:buNone/>
              <a:defRPr sz="2275" b="1"/>
            </a:lvl4pPr>
            <a:lvl5pPr marL="2600325" indent="0">
              <a:buNone/>
              <a:defRPr sz="2275" b="1"/>
            </a:lvl5pPr>
            <a:lvl6pPr marL="3250565" indent="0">
              <a:buNone/>
              <a:defRPr sz="2275" b="1"/>
            </a:lvl6pPr>
            <a:lvl7pPr marL="3900805" indent="0">
              <a:buNone/>
              <a:defRPr sz="2275" b="1"/>
            </a:lvl7pPr>
            <a:lvl8pPr marL="4551045" indent="0">
              <a:buNone/>
              <a:defRPr sz="2275" b="1"/>
            </a:lvl8pPr>
            <a:lvl9pPr marL="5201285" indent="0">
              <a:buNone/>
              <a:defRPr sz="2275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82869" y="7125985"/>
            <a:ext cx="5528053" cy="10481251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5664" y="1300560"/>
            <a:ext cx="4193870" cy="4551960"/>
          </a:xfrm>
        </p:spPr>
        <p:txBody>
          <a:bodyPr anchor="b"/>
          <a:lstStyle>
            <a:lvl1pPr>
              <a:defRPr sz="45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28053" y="2808848"/>
            <a:ext cx="6582869" cy="13863609"/>
          </a:xfrm>
        </p:spPr>
        <p:txBody>
          <a:bodyPr/>
          <a:lstStyle>
            <a:lvl1pPr>
              <a:defRPr sz="4550"/>
            </a:lvl1pPr>
            <a:lvl2pPr>
              <a:defRPr sz="3980"/>
            </a:lvl2pPr>
            <a:lvl3pPr>
              <a:defRPr sz="3415"/>
            </a:lvl3pPr>
            <a:lvl4pPr>
              <a:defRPr sz="2845"/>
            </a:lvl4pPr>
            <a:lvl5pPr>
              <a:defRPr sz="2845"/>
            </a:lvl5pPr>
            <a:lvl6pPr>
              <a:defRPr sz="2845"/>
            </a:lvl6pPr>
            <a:lvl7pPr>
              <a:defRPr sz="2845"/>
            </a:lvl7pPr>
            <a:lvl8pPr>
              <a:defRPr sz="2845"/>
            </a:lvl8pPr>
            <a:lvl9pPr>
              <a:defRPr sz="284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95664" y="5852520"/>
            <a:ext cx="4193870" cy="10842518"/>
          </a:xfrm>
        </p:spPr>
        <p:txBody>
          <a:bodyPr/>
          <a:lstStyle>
            <a:lvl1pPr marL="0" indent="0">
              <a:buNone/>
              <a:defRPr sz="2275"/>
            </a:lvl1pPr>
            <a:lvl2pPr marL="650240" indent="0">
              <a:buNone/>
              <a:defRPr sz="1990"/>
            </a:lvl2pPr>
            <a:lvl3pPr marL="1300480" indent="0">
              <a:buNone/>
              <a:defRPr sz="1705"/>
            </a:lvl3pPr>
            <a:lvl4pPr marL="1950720" indent="0">
              <a:buNone/>
              <a:defRPr sz="1420"/>
            </a:lvl4pPr>
            <a:lvl5pPr marL="2600325" indent="0">
              <a:buNone/>
              <a:defRPr sz="1420"/>
            </a:lvl5pPr>
            <a:lvl6pPr marL="3250565" indent="0">
              <a:buNone/>
              <a:defRPr sz="1420"/>
            </a:lvl6pPr>
            <a:lvl7pPr marL="3900805" indent="0">
              <a:buNone/>
              <a:defRPr sz="1420"/>
            </a:lvl7pPr>
            <a:lvl8pPr marL="4551045" indent="0">
              <a:buNone/>
              <a:defRPr sz="1420"/>
            </a:lvl8pPr>
            <a:lvl9pPr marL="5201285" indent="0">
              <a:buNone/>
              <a:defRPr sz="14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5664" y="1300560"/>
            <a:ext cx="4193870" cy="4551960"/>
          </a:xfrm>
        </p:spPr>
        <p:txBody>
          <a:bodyPr anchor="b"/>
          <a:lstStyle>
            <a:lvl1pPr>
              <a:defRPr sz="45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528053" y="2808848"/>
            <a:ext cx="6582869" cy="13863609"/>
          </a:xfrm>
        </p:spPr>
        <p:txBody>
          <a:bodyPr/>
          <a:lstStyle>
            <a:lvl1pPr marL="0" indent="0">
              <a:buNone/>
              <a:defRPr sz="4550"/>
            </a:lvl1pPr>
            <a:lvl2pPr marL="650240" indent="0">
              <a:buNone/>
              <a:defRPr sz="3980"/>
            </a:lvl2pPr>
            <a:lvl3pPr marL="1300480" indent="0">
              <a:buNone/>
              <a:defRPr sz="3415"/>
            </a:lvl3pPr>
            <a:lvl4pPr marL="1950720" indent="0">
              <a:buNone/>
              <a:defRPr sz="2845"/>
            </a:lvl4pPr>
            <a:lvl5pPr marL="2600325" indent="0">
              <a:buNone/>
              <a:defRPr sz="2845"/>
            </a:lvl5pPr>
            <a:lvl6pPr marL="3250565" indent="0">
              <a:buNone/>
              <a:defRPr sz="2845"/>
            </a:lvl6pPr>
            <a:lvl7pPr marL="3900805" indent="0">
              <a:buNone/>
              <a:defRPr sz="2845"/>
            </a:lvl7pPr>
            <a:lvl8pPr marL="4551045" indent="0">
              <a:buNone/>
              <a:defRPr sz="2845"/>
            </a:lvl8pPr>
            <a:lvl9pPr marL="5201285" indent="0">
              <a:buNone/>
              <a:defRPr sz="284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95664" y="5852520"/>
            <a:ext cx="4193870" cy="10842518"/>
          </a:xfrm>
        </p:spPr>
        <p:txBody>
          <a:bodyPr/>
          <a:lstStyle>
            <a:lvl1pPr marL="0" indent="0">
              <a:buNone/>
              <a:defRPr sz="2275"/>
            </a:lvl1pPr>
            <a:lvl2pPr marL="650240" indent="0">
              <a:buNone/>
              <a:defRPr sz="1990"/>
            </a:lvl2pPr>
            <a:lvl3pPr marL="1300480" indent="0">
              <a:buNone/>
              <a:defRPr sz="1705"/>
            </a:lvl3pPr>
            <a:lvl4pPr marL="1950720" indent="0">
              <a:buNone/>
              <a:defRPr sz="1420"/>
            </a:lvl4pPr>
            <a:lvl5pPr marL="2600325" indent="0">
              <a:buNone/>
              <a:defRPr sz="1420"/>
            </a:lvl5pPr>
            <a:lvl6pPr marL="3250565" indent="0">
              <a:buNone/>
              <a:defRPr sz="1420"/>
            </a:lvl6pPr>
            <a:lvl7pPr marL="3900805" indent="0">
              <a:buNone/>
              <a:defRPr sz="1420"/>
            </a:lvl7pPr>
            <a:lvl8pPr marL="4551045" indent="0">
              <a:buNone/>
              <a:defRPr sz="1420"/>
            </a:lvl8pPr>
            <a:lvl9pPr marL="5201285" indent="0">
              <a:buNone/>
              <a:defRPr sz="142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05414" y="1038642"/>
            <a:ext cx="2803815" cy="1653246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3970" y="1038642"/>
            <a:ext cx="8248904" cy="1653246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625781" y="3193039"/>
            <a:ext cx="9754689" cy="6792543"/>
          </a:xfrm>
        </p:spPr>
        <p:txBody>
          <a:bodyPr anchor="b"/>
          <a:lstStyle>
            <a:lvl1pPr algn="ctr">
              <a:defRPr sz="853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25781" y="10247526"/>
            <a:ext cx="9754689" cy="4710519"/>
          </a:xfrm>
        </p:spPr>
        <p:txBody>
          <a:bodyPr/>
          <a:lstStyle>
            <a:lvl1pPr marL="0" indent="0" algn="ctr">
              <a:buNone/>
              <a:defRPr sz="3410"/>
            </a:lvl1pPr>
            <a:lvl2pPr marL="650240" indent="0" algn="ctr">
              <a:buNone/>
              <a:defRPr sz="2845"/>
            </a:lvl2pPr>
            <a:lvl3pPr marL="1300480" indent="0" algn="ctr">
              <a:buNone/>
              <a:defRPr sz="2560"/>
            </a:lvl3pPr>
            <a:lvl4pPr marL="1950720" indent="0" algn="ctr">
              <a:buNone/>
              <a:defRPr sz="2275"/>
            </a:lvl4pPr>
            <a:lvl5pPr marL="2600960" indent="0" algn="ctr">
              <a:buNone/>
              <a:defRPr sz="2275"/>
            </a:lvl5pPr>
            <a:lvl6pPr marL="3250565" indent="0" algn="ctr">
              <a:buNone/>
              <a:defRPr sz="2275"/>
            </a:lvl6pPr>
            <a:lvl7pPr marL="3900805" indent="0" algn="ctr">
              <a:buNone/>
              <a:defRPr sz="2275"/>
            </a:lvl7pPr>
            <a:lvl8pPr marL="4551045" indent="0" algn="ctr">
              <a:buNone/>
              <a:defRPr sz="2275"/>
            </a:lvl8pPr>
            <a:lvl9pPr marL="5201285" indent="0" algn="ctr">
              <a:buNone/>
              <a:defRPr sz="227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7406" y="4864076"/>
            <a:ext cx="11217892" cy="8115821"/>
          </a:xfrm>
        </p:spPr>
        <p:txBody>
          <a:bodyPr anchor="b"/>
          <a:lstStyle>
            <a:lvl1pPr>
              <a:defRPr sz="853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7406" y="13056677"/>
            <a:ext cx="11217892" cy="4267919"/>
          </a:xfrm>
        </p:spPr>
        <p:txBody>
          <a:bodyPr/>
          <a:lstStyle>
            <a:lvl1pPr marL="0" indent="0">
              <a:buNone/>
              <a:defRPr sz="3410">
                <a:solidFill>
                  <a:schemeClr val="tx1">
                    <a:tint val="75000"/>
                  </a:schemeClr>
                </a:solidFill>
              </a:defRPr>
            </a:lvl1pPr>
            <a:lvl2pPr marL="650240" indent="0">
              <a:buNone/>
              <a:defRPr sz="2845">
                <a:solidFill>
                  <a:schemeClr val="tx1">
                    <a:tint val="75000"/>
                  </a:schemeClr>
                </a:solidFill>
              </a:defRPr>
            </a:lvl2pPr>
            <a:lvl3pPr marL="130048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195072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4pPr>
            <a:lvl5pPr marL="260096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5pPr>
            <a:lvl6pPr marL="3250565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6pPr>
            <a:lvl7pPr marL="3900805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7pPr>
            <a:lvl8pPr marL="4551045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8pPr>
            <a:lvl9pPr marL="5201285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94180" y="5193766"/>
            <a:ext cx="5527657" cy="1237922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84415" y="5193766"/>
            <a:ext cx="5527657" cy="1237922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5874" y="1038753"/>
            <a:ext cx="11217892" cy="377112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5874" y="4782783"/>
            <a:ext cx="5502254" cy="2343968"/>
          </a:xfrm>
        </p:spPr>
        <p:txBody>
          <a:bodyPr anchor="b"/>
          <a:lstStyle>
            <a:lvl1pPr marL="0" indent="0">
              <a:buNone/>
              <a:defRPr sz="3410" b="1"/>
            </a:lvl1pPr>
            <a:lvl2pPr marL="650240" indent="0">
              <a:buNone/>
              <a:defRPr sz="2845" b="1"/>
            </a:lvl2pPr>
            <a:lvl3pPr marL="1300480" indent="0">
              <a:buNone/>
              <a:defRPr sz="2560" b="1"/>
            </a:lvl3pPr>
            <a:lvl4pPr marL="1950720" indent="0">
              <a:buNone/>
              <a:defRPr sz="2275" b="1"/>
            </a:lvl4pPr>
            <a:lvl5pPr marL="2600960" indent="0">
              <a:buNone/>
              <a:defRPr sz="2275" b="1"/>
            </a:lvl5pPr>
            <a:lvl6pPr marL="3250565" indent="0">
              <a:buNone/>
              <a:defRPr sz="2275" b="1"/>
            </a:lvl6pPr>
            <a:lvl7pPr marL="3900805" indent="0">
              <a:buNone/>
              <a:defRPr sz="2275" b="1"/>
            </a:lvl7pPr>
            <a:lvl8pPr marL="4551045" indent="0">
              <a:buNone/>
              <a:defRPr sz="2275" b="1"/>
            </a:lvl8pPr>
            <a:lvl9pPr marL="5201285" indent="0">
              <a:buNone/>
              <a:defRPr sz="2275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5874" y="7126750"/>
            <a:ext cx="5502254" cy="104823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84415" y="4782783"/>
            <a:ext cx="5529351" cy="2343968"/>
          </a:xfrm>
        </p:spPr>
        <p:txBody>
          <a:bodyPr anchor="b"/>
          <a:lstStyle>
            <a:lvl1pPr marL="0" indent="0">
              <a:buNone/>
              <a:defRPr sz="3410" b="1"/>
            </a:lvl1pPr>
            <a:lvl2pPr marL="650240" indent="0">
              <a:buNone/>
              <a:defRPr sz="2845" b="1"/>
            </a:lvl2pPr>
            <a:lvl3pPr marL="1300480" indent="0">
              <a:buNone/>
              <a:defRPr sz="2560" b="1"/>
            </a:lvl3pPr>
            <a:lvl4pPr marL="1950720" indent="0">
              <a:buNone/>
              <a:defRPr sz="2275" b="1"/>
            </a:lvl4pPr>
            <a:lvl5pPr marL="2600960" indent="0">
              <a:buNone/>
              <a:defRPr sz="2275" b="1"/>
            </a:lvl5pPr>
            <a:lvl6pPr marL="3250565" indent="0">
              <a:buNone/>
              <a:defRPr sz="2275" b="1"/>
            </a:lvl6pPr>
            <a:lvl7pPr marL="3900805" indent="0">
              <a:buNone/>
              <a:defRPr sz="2275" b="1"/>
            </a:lvl7pPr>
            <a:lvl8pPr marL="4551045" indent="0">
              <a:buNone/>
              <a:defRPr sz="2275" b="1"/>
            </a:lvl8pPr>
            <a:lvl9pPr marL="5201285" indent="0">
              <a:buNone/>
              <a:defRPr sz="2275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84415" y="7126750"/>
            <a:ext cx="5529351" cy="104823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5874" y="1300700"/>
            <a:ext cx="4194854" cy="4552449"/>
          </a:xfrm>
        </p:spPr>
        <p:txBody>
          <a:bodyPr anchor="b"/>
          <a:lstStyle>
            <a:lvl1pPr>
              <a:defRPr sz="45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529351" y="2809149"/>
            <a:ext cx="6584415" cy="13865096"/>
          </a:xfrm>
        </p:spPr>
        <p:txBody>
          <a:bodyPr/>
          <a:lstStyle>
            <a:lvl1pPr>
              <a:defRPr sz="4550"/>
            </a:lvl1pPr>
            <a:lvl2pPr>
              <a:defRPr sz="3985"/>
            </a:lvl2pPr>
            <a:lvl3pPr>
              <a:defRPr sz="3410"/>
            </a:lvl3pPr>
            <a:lvl4pPr>
              <a:defRPr sz="2845"/>
            </a:lvl4pPr>
            <a:lvl5pPr>
              <a:defRPr sz="2845"/>
            </a:lvl5pPr>
            <a:lvl6pPr>
              <a:defRPr sz="2845"/>
            </a:lvl6pPr>
            <a:lvl7pPr>
              <a:defRPr sz="2845"/>
            </a:lvl7pPr>
            <a:lvl8pPr>
              <a:defRPr sz="2845"/>
            </a:lvl8pPr>
            <a:lvl9pPr>
              <a:defRPr sz="284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95874" y="5853149"/>
            <a:ext cx="4194854" cy="10843680"/>
          </a:xfrm>
        </p:spPr>
        <p:txBody>
          <a:bodyPr/>
          <a:lstStyle>
            <a:lvl1pPr marL="0" indent="0">
              <a:buNone/>
              <a:defRPr sz="2275"/>
            </a:lvl1pPr>
            <a:lvl2pPr marL="650240" indent="0">
              <a:buNone/>
              <a:defRPr sz="1990"/>
            </a:lvl2pPr>
            <a:lvl3pPr marL="1300480" indent="0">
              <a:buNone/>
              <a:defRPr sz="1710"/>
            </a:lvl3pPr>
            <a:lvl4pPr marL="1950720" indent="0">
              <a:buNone/>
              <a:defRPr sz="1425"/>
            </a:lvl4pPr>
            <a:lvl5pPr marL="2600960" indent="0">
              <a:buNone/>
              <a:defRPr sz="1425"/>
            </a:lvl5pPr>
            <a:lvl6pPr marL="3250565" indent="0">
              <a:buNone/>
              <a:defRPr sz="1425"/>
            </a:lvl6pPr>
            <a:lvl7pPr marL="3900805" indent="0">
              <a:buNone/>
              <a:defRPr sz="1425"/>
            </a:lvl7pPr>
            <a:lvl8pPr marL="4551045" indent="0">
              <a:buNone/>
              <a:defRPr sz="1425"/>
            </a:lvl8pPr>
            <a:lvl9pPr marL="5201285" indent="0">
              <a:buNone/>
              <a:defRPr sz="142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95874" y="1300700"/>
            <a:ext cx="4194854" cy="4552449"/>
          </a:xfrm>
        </p:spPr>
        <p:txBody>
          <a:bodyPr anchor="b"/>
          <a:lstStyle>
            <a:lvl1pPr>
              <a:defRPr sz="455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529351" y="2809149"/>
            <a:ext cx="6584415" cy="13865096"/>
          </a:xfrm>
        </p:spPr>
        <p:txBody>
          <a:bodyPr/>
          <a:lstStyle>
            <a:lvl1pPr marL="0" indent="0">
              <a:buNone/>
              <a:defRPr sz="4550"/>
            </a:lvl1pPr>
            <a:lvl2pPr marL="650240" indent="0">
              <a:buNone/>
              <a:defRPr sz="3985"/>
            </a:lvl2pPr>
            <a:lvl3pPr marL="1300480" indent="0">
              <a:buNone/>
              <a:defRPr sz="3410"/>
            </a:lvl3pPr>
            <a:lvl4pPr marL="1950720" indent="0">
              <a:buNone/>
              <a:defRPr sz="2845"/>
            </a:lvl4pPr>
            <a:lvl5pPr marL="2600960" indent="0">
              <a:buNone/>
              <a:defRPr sz="2845"/>
            </a:lvl5pPr>
            <a:lvl6pPr marL="3250565" indent="0">
              <a:buNone/>
              <a:defRPr sz="2845"/>
            </a:lvl6pPr>
            <a:lvl7pPr marL="3900805" indent="0">
              <a:buNone/>
              <a:defRPr sz="2845"/>
            </a:lvl7pPr>
            <a:lvl8pPr marL="4551045" indent="0">
              <a:buNone/>
              <a:defRPr sz="2845"/>
            </a:lvl8pPr>
            <a:lvl9pPr marL="5201285" indent="0">
              <a:buNone/>
              <a:defRPr sz="284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95874" y="5853149"/>
            <a:ext cx="4194854" cy="10843680"/>
          </a:xfrm>
        </p:spPr>
        <p:txBody>
          <a:bodyPr/>
          <a:lstStyle>
            <a:lvl1pPr marL="0" indent="0">
              <a:buNone/>
              <a:defRPr sz="2275"/>
            </a:lvl1pPr>
            <a:lvl2pPr marL="650240" indent="0">
              <a:buNone/>
              <a:defRPr sz="1990"/>
            </a:lvl2pPr>
            <a:lvl3pPr marL="1300480" indent="0">
              <a:buNone/>
              <a:defRPr sz="1710"/>
            </a:lvl3pPr>
            <a:lvl4pPr marL="1950720" indent="0">
              <a:buNone/>
              <a:defRPr sz="1425"/>
            </a:lvl4pPr>
            <a:lvl5pPr marL="2600960" indent="0">
              <a:buNone/>
              <a:defRPr sz="1425"/>
            </a:lvl5pPr>
            <a:lvl6pPr marL="3250565" indent="0">
              <a:buNone/>
              <a:defRPr sz="1425"/>
            </a:lvl6pPr>
            <a:lvl7pPr marL="3900805" indent="0">
              <a:buNone/>
              <a:defRPr sz="1425"/>
            </a:lvl7pPr>
            <a:lvl8pPr marL="4551045" indent="0">
              <a:buNone/>
              <a:defRPr sz="1425"/>
            </a:lvl8pPr>
            <a:lvl9pPr marL="5201285" indent="0">
              <a:buNone/>
              <a:defRPr sz="142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07598" y="1038753"/>
            <a:ext cx="2804474" cy="1653424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94180" y="1038753"/>
            <a:ext cx="8250841" cy="1653424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278563" y="2601120"/>
            <a:ext cx="10451193" cy="731181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853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278563" y="10127982"/>
            <a:ext cx="10451193" cy="418841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415" spc="200"/>
            </a:lvl1pPr>
            <a:lvl2pPr marL="650240" indent="0" algn="ctr">
              <a:buNone/>
              <a:defRPr sz="2845"/>
            </a:lvl2pPr>
            <a:lvl3pPr marL="1300480" indent="0" algn="ctr">
              <a:buNone/>
              <a:defRPr sz="2560"/>
            </a:lvl3pPr>
            <a:lvl4pPr marL="1950720" indent="0" algn="ctr">
              <a:buNone/>
              <a:defRPr sz="2275"/>
            </a:lvl4pPr>
            <a:lvl5pPr marL="2600325" indent="0" algn="ctr">
              <a:buNone/>
              <a:defRPr sz="2275"/>
            </a:lvl5pPr>
            <a:lvl6pPr marL="3250565" indent="0" algn="ctr">
              <a:buNone/>
              <a:defRPr sz="2275"/>
            </a:lvl6pPr>
            <a:lvl7pPr marL="3900805" indent="0" algn="ctr">
              <a:buNone/>
              <a:defRPr sz="2275"/>
            </a:lvl7pPr>
            <a:lvl8pPr marL="4551045" indent="0" algn="ctr">
              <a:buNone/>
              <a:defRPr sz="2275"/>
            </a:lvl8pPr>
            <a:lvl9pPr marL="5201285" indent="0" algn="ctr">
              <a:buNone/>
              <a:defRPr sz="2275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48880" y="1730667"/>
            <a:ext cx="11699039" cy="200716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48880" y="4239621"/>
            <a:ext cx="11699039" cy="13538112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123259" y="10947233"/>
            <a:ext cx="8285700" cy="218125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6255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2123259" y="13128487"/>
            <a:ext cx="8285700" cy="2467992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5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024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2pPr>
            <a:lvl3pPr marL="130048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3pPr>
            <a:lvl4pPr marL="195072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4pPr>
            <a:lvl5pPr marL="2600325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5pPr>
            <a:lvl6pPr marL="3250565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6pPr>
            <a:lvl7pPr marL="3900805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7pPr>
            <a:lvl8pPr marL="4551045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8pPr>
            <a:lvl9pPr marL="5201285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48880" y="1730667"/>
            <a:ext cx="11699039" cy="200716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48880" y="4270343"/>
            <a:ext cx="5521240" cy="1350739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838198" y="4270343"/>
            <a:ext cx="5521240" cy="1350739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48880" y="1730667"/>
            <a:ext cx="11699039" cy="200716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48880" y="4065530"/>
            <a:ext cx="5697858" cy="1085507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84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50240" indent="0">
              <a:buNone/>
              <a:defRPr sz="2845" b="1"/>
            </a:lvl2pPr>
            <a:lvl3pPr marL="1300480" indent="0">
              <a:buNone/>
              <a:defRPr sz="2560" b="1"/>
            </a:lvl3pPr>
            <a:lvl4pPr marL="1950720" indent="0">
              <a:buNone/>
              <a:defRPr sz="2275" b="1"/>
            </a:lvl4pPr>
            <a:lvl5pPr marL="2600325" indent="0">
              <a:buNone/>
              <a:defRPr sz="2275" b="1"/>
            </a:lvl5pPr>
            <a:lvl6pPr marL="3250565" indent="0">
              <a:buNone/>
              <a:defRPr sz="2275" b="1"/>
            </a:lvl6pPr>
            <a:lvl7pPr marL="3900805" indent="0">
              <a:buNone/>
              <a:defRPr sz="2275" b="1"/>
            </a:lvl7pPr>
            <a:lvl8pPr marL="4551045" indent="0">
              <a:buNone/>
              <a:defRPr sz="2275" b="1"/>
            </a:lvl8pPr>
            <a:lvl9pPr marL="5201285" indent="0">
              <a:buNone/>
              <a:defRPr sz="2275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8880" y="5273925"/>
            <a:ext cx="5697858" cy="12503808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650648" y="4044278"/>
            <a:ext cx="5697858" cy="108550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84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50240" indent="0">
              <a:buNone/>
              <a:defRPr sz="2845" b="1"/>
            </a:lvl2pPr>
            <a:lvl3pPr marL="1300480" indent="0">
              <a:buNone/>
              <a:defRPr sz="2560" b="1"/>
            </a:lvl3pPr>
            <a:lvl4pPr marL="1950720" indent="0">
              <a:buNone/>
              <a:defRPr sz="2275" b="1"/>
            </a:lvl4pPr>
            <a:lvl5pPr marL="2600325" indent="0">
              <a:buNone/>
              <a:defRPr sz="2275" b="1"/>
            </a:lvl5pPr>
            <a:lvl6pPr marL="3250565" indent="0">
              <a:buNone/>
              <a:defRPr sz="2275" b="1"/>
            </a:lvl6pPr>
            <a:lvl7pPr marL="3900805" indent="0">
              <a:buNone/>
              <a:defRPr sz="2275" b="1"/>
            </a:lvl7pPr>
            <a:lvl8pPr marL="4551045" indent="0">
              <a:buNone/>
              <a:defRPr sz="2275" b="1"/>
            </a:lvl8pPr>
            <a:lvl9pPr marL="5201285" indent="0">
              <a:buNone/>
              <a:defRPr sz="227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650648" y="5273925"/>
            <a:ext cx="5697858" cy="12503808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48880" y="1730667"/>
            <a:ext cx="11699039" cy="2007164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48880" y="4423952"/>
            <a:ext cx="5581262" cy="13108006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27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772926" y="4423952"/>
            <a:ext cx="5574994" cy="13108006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27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2026-5-5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915776" y="2601120"/>
            <a:ext cx="1113463" cy="14306159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398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75240" y="2601120"/>
            <a:ext cx="9779276" cy="14306159"/>
          </a:xfrm>
        </p:spPr>
        <p:txBody>
          <a:bodyPr vert="eaVert" lIns="46800" tIns="46800" rIns="46800" bIns="46800"/>
          <a:lstStyle>
            <a:lvl1pPr marL="325120" indent="-325120">
              <a:spcAft>
                <a:spcPts val="1000"/>
              </a:spcAft>
              <a:defRPr spc="300"/>
            </a:lvl1pPr>
            <a:lvl2pPr marL="975360" indent="-325120">
              <a:defRPr spc="300"/>
            </a:lvl2pPr>
            <a:lvl3pPr marL="1625600" indent="-325120">
              <a:defRPr spc="300"/>
            </a:lvl3pPr>
            <a:lvl4pPr marL="2275840" indent="-325120">
              <a:defRPr spc="300"/>
            </a:lvl4pPr>
            <a:lvl5pPr marL="2925445" indent="-32512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48880" y="2201735"/>
            <a:ext cx="11702879" cy="155964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78563" y="7066035"/>
            <a:ext cx="10451193" cy="2898098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853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278563" y="10127982"/>
            <a:ext cx="10451193" cy="1341523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41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278563" y="2601205"/>
            <a:ext cx="10451193" cy="7312048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853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278563" y="10128313"/>
            <a:ext cx="10451193" cy="4188554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3415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50240" indent="0" algn="ctr">
              <a:buNone/>
              <a:defRPr sz="2845"/>
            </a:lvl2pPr>
            <a:lvl3pPr marL="1300480" indent="0" algn="ctr">
              <a:buNone/>
              <a:defRPr sz="2560"/>
            </a:lvl3pPr>
            <a:lvl4pPr marL="1950720" indent="0" algn="ctr">
              <a:buNone/>
              <a:defRPr sz="2275"/>
            </a:lvl4pPr>
            <a:lvl5pPr marL="2600325" indent="0" algn="ctr">
              <a:buNone/>
              <a:defRPr sz="2275"/>
            </a:lvl5pPr>
            <a:lvl6pPr marL="3250565" indent="0" algn="ctr">
              <a:buNone/>
              <a:defRPr sz="2275"/>
            </a:lvl6pPr>
            <a:lvl7pPr marL="3900805" indent="0" algn="ctr">
              <a:buNone/>
              <a:defRPr sz="2275"/>
            </a:lvl7pPr>
            <a:lvl8pPr marL="4551045" indent="0" algn="ctr">
              <a:buNone/>
              <a:defRPr sz="2275"/>
            </a:lvl8pPr>
            <a:lvl9pPr marL="5201285" indent="0" algn="ctr">
              <a:buNone/>
              <a:defRPr sz="2275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48880" y="1730723"/>
            <a:ext cx="11699039" cy="2007229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512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48880" y="4239759"/>
            <a:ext cx="11699039" cy="13538554"/>
          </a:xfrm>
        </p:spPr>
        <p:txBody>
          <a:bodyPr vert="horz" lIns="90000" tIns="46800" rIns="90000" bIns="46800" rtlCol="0">
            <a:normAutofit/>
          </a:bodyPr>
          <a:lstStyle>
            <a:lvl1pPr marL="325120" marR="0" lvl="0" indent="-3251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256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5360" marR="0" lvl="1" indent="-32512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2275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5600" marR="0" lvl="2" indent="-32512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275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75840" marR="0" lvl="3" indent="-32512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99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25445" marR="0" lvl="4" indent="-32512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99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2123259" y="10947590"/>
            <a:ext cx="8285700" cy="2181325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6255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2123259" y="13128915"/>
            <a:ext cx="8285700" cy="2468072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256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50240" indent="0">
              <a:buNone/>
              <a:defRPr sz="2845">
                <a:solidFill>
                  <a:schemeClr val="tx1">
                    <a:tint val="75000"/>
                  </a:schemeClr>
                </a:solidFill>
              </a:defRPr>
            </a:lvl2pPr>
            <a:lvl3pPr marL="130048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3pPr>
            <a:lvl4pPr marL="1950720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4pPr>
            <a:lvl5pPr marL="2600325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5pPr>
            <a:lvl6pPr marL="3250565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6pPr>
            <a:lvl7pPr marL="3900805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7pPr>
            <a:lvl8pPr marL="4551045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8pPr>
            <a:lvl9pPr marL="5201285" indent="0">
              <a:buNone/>
              <a:defRPr sz="227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48880" y="1730723"/>
            <a:ext cx="11699039" cy="2007229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512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48880" y="4270482"/>
            <a:ext cx="5521240" cy="13507831"/>
          </a:xfrm>
        </p:spPr>
        <p:txBody>
          <a:bodyPr vert="horz" lIns="90000" tIns="46800" rIns="90000" bIns="46800" rtlCol="0">
            <a:normAutofit/>
          </a:bodyPr>
          <a:lstStyle>
            <a:lvl1pPr marL="325120" marR="0" lvl="0" indent="-3251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275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5360" marR="0" lvl="1" indent="-32512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2275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5600" marR="0" lvl="2" indent="-32512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275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75840" marR="0" lvl="3" indent="-32512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99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25445" marR="0" lvl="4" indent="-32512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99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838198" y="4270482"/>
            <a:ext cx="5521240" cy="13507831"/>
          </a:xfrm>
        </p:spPr>
        <p:txBody>
          <a:bodyPr lIns="90000" tIns="46800" rIns="90000" bIns="46800">
            <a:normAutofit/>
          </a:bodyPr>
          <a:lstStyle>
            <a:lvl1pPr marL="325120" indent="-32512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2275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975360" indent="-32512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2275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1625600" indent="-32512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2275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2275840" indent="-32512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99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lnSpc>
                <a:spcPct val="120000"/>
              </a:lnSpc>
              <a:defRPr sz="199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48880" y="1730723"/>
            <a:ext cx="11699039" cy="2007229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512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48880" y="4065662"/>
            <a:ext cx="5697858" cy="1085542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845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650240" indent="0">
              <a:buNone/>
              <a:defRPr sz="2845" b="1"/>
            </a:lvl2pPr>
            <a:lvl3pPr marL="1300480" indent="0">
              <a:buNone/>
              <a:defRPr sz="2560" b="1"/>
            </a:lvl3pPr>
            <a:lvl4pPr marL="1950720" indent="0">
              <a:buNone/>
              <a:defRPr sz="2275" b="1"/>
            </a:lvl4pPr>
            <a:lvl5pPr marL="2600325" indent="0">
              <a:buNone/>
              <a:defRPr sz="2275" b="1"/>
            </a:lvl5pPr>
            <a:lvl6pPr marL="3250565" indent="0">
              <a:buNone/>
              <a:defRPr sz="2275" b="1"/>
            </a:lvl6pPr>
            <a:lvl7pPr marL="3900805" indent="0">
              <a:buNone/>
              <a:defRPr sz="2275" b="1"/>
            </a:lvl7pPr>
            <a:lvl8pPr marL="4551045" indent="0">
              <a:buNone/>
              <a:defRPr sz="2275" b="1"/>
            </a:lvl8pPr>
            <a:lvl9pPr marL="5201285" indent="0">
              <a:buNone/>
              <a:defRPr sz="2275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8880" y="5274097"/>
            <a:ext cx="5697858" cy="12504216"/>
          </a:xfrm>
        </p:spPr>
        <p:txBody>
          <a:bodyPr vert="horz" lIns="101600" tIns="0" rIns="82550" bIns="0" rtlCol="0">
            <a:normAutofit/>
          </a:bodyPr>
          <a:lstStyle>
            <a:lvl1pPr marL="325120" marR="0" lvl="0" indent="-3251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275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5360" marR="0" lvl="1" indent="-32512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2275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5600" marR="0" lvl="2" indent="-32512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275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75840" marR="0" lvl="3" indent="-32512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99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25445" marR="0" lvl="4" indent="-32512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99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650648" y="4044410"/>
            <a:ext cx="5697858" cy="1085542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845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50240" indent="0">
              <a:buNone/>
              <a:defRPr sz="2845" b="1"/>
            </a:lvl2pPr>
            <a:lvl3pPr marL="1300480" indent="0">
              <a:buNone/>
              <a:defRPr sz="2560" b="1"/>
            </a:lvl3pPr>
            <a:lvl4pPr marL="1950720" indent="0">
              <a:buNone/>
              <a:defRPr sz="2275" b="1"/>
            </a:lvl4pPr>
            <a:lvl5pPr marL="2600325" indent="0">
              <a:buNone/>
              <a:defRPr sz="2275" b="1"/>
            </a:lvl5pPr>
            <a:lvl6pPr marL="3250565" indent="0">
              <a:buNone/>
              <a:defRPr sz="2275" b="1"/>
            </a:lvl6pPr>
            <a:lvl7pPr marL="3900805" indent="0">
              <a:buNone/>
              <a:defRPr sz="2275" b="1"/>
            </a:lvl7pPr>
            <a:lvl8pPr marL="4551045" indent="0">
              <a:buNone/>
              <a:defRPr sz="2275" b="1"/>
            </a:lvl8pPr>
            <a:lvl9pPr marL="5201285" indent="0">
              <a:buNone/>
              <a:defRPr sz="2275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650648" y="5274097"/>
            <a:ext cx="5697858" cy="12504216"/>
          </a:xfrm>
        </p:spPr>
        <p:txBody>
          <a:bodyPr vert="horz" lIns="101600" tIns="0" rIns="82550" bIns="0" rtlCol="0">
            <a:normAutofit/>
          </a:bodyPr>
          <a:lstStyle>
            <a:lvl1pPr marL="325120" marR="0" lvl="0" indent="-3251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275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5360" marR="0" lvl="1" indent="-32512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2275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5600" marR="0" lvl="2" indent="-32512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2275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75840" marR="0" lvl="3" indent="-32512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99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25445" marR="0" lvl="4" indent="-32512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99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48880" y="1730723"/>
            <a:ext cx="11699039" cy="2007229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512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48805" y="4423854"/>
            <a:ext cx="5581217" cy="13108988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275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5360" marR="0" lvl="1" indent="-3251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625600" marR="0" lvl="2" indent="-3251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275840" marR="0" lvl="3" indent="-3251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925445" marR="0" lvl="4" indent="-32512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5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772926" y="4424096"/>
            <a:ext cx="5574994" cy="13108434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2275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5024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2026-5-5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915776" y="2601205"/>
            <a:ext cx="1113463" cy="14306626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398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75240" y="2601205"/>
            <a:ext cx="9779276" cy="14306626"/>
          </a:xfrm>
        </p:spPr>
        <p:txBody>
          <a:bodyPr vert="eaVert" lIns="46800" tIns="46800" rIns="46800" bIns="46800"/>
          <a:lstStyle>
            <a:lvl1pPr marL="325120" indent="-32512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975360" indent="-32512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625600" indent="-32512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2275840" indent="-32512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925445" indent="-32512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48880" y="2201807"/>
            <a:ext cx="11702879" cy="15596988"/>
          </a:xfrm>
        </p:spPr>
        <p:txBody>
          <a:bodyPr/>
          <a:lstStyle>
            <a:lvl1pPr marL="325120" indent="-32512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975360" indent="-32512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625600" indent="-32512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2275840" indent="-32512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925445" indent="-32512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78563" y="7066265"/>
            <a:ext cx="10451193" cy="2898192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53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278563" y="10128313"/>
            <a:ext cx="10451193" cy="1341567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415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4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ags" Target="../tags/tag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ags" Target="../tags/tag63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17" Type="http://schemas.openxmlformats.org/officeDocument/2006/relationships/tags" Target="../tags/tag67.xml"/><Relationship Id="rId2" Type="http://schemas.openxmlformats.org/officeDocument/2006/relationships/slideLayout" Target="../slideLayouts/slideLayout35.xml"/><Relationship Id="rId16" Type="http://schemas.openxmlformats.org/officeDocument/2006/relationships/tags" Target="../tags/tag66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tags" Target="../tags/tag65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tags" Target="../tags/tag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93970" y="1038642"/>
            <a:ext cx="11215259" cy="377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3970" y="5193208"/>
            <a:ext cx="11215259" cy="12377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93970" y="18081397"/>
            <a:ext cx="2925720" cy="10386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07310" y="18081397"/>
            <a:ext cx="4388580" cy="10386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183509" y="18081397"/>
            <a:ext cx="2925720" cy="10386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300480" rtl="0" eaLnBrk="1" latinLnBrk="0" hangingPunct="1">
        <a:lnSpc>
          <a:spcPct val="90000"/>
        </a:lnSpc>
        <a:spcBef>
          <a:spcPct val="0"/>
        </a:spcBef>
        <a:buNone/>
        <a:defRPr sz="62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20" indent="-325120" algn="l" defTabSz="1300480" rtl="0" eaLnBrk="1" latinLnBrk="0" hangingPunct="1">
        <a:lnSpc>
          <a:spcPct val="90000"/>
        </a:lnSpc>
        <a:spcBef>
          <a:spcPct val="285000"/>
        </a:spcBef>
        <a:buFont typeface="Arial" panose="020B0604020202020204" pitchFamily="34" charset="0"/>
        <a:buChar char="•"/>
        <a:defRPr sz="3980" kern="1200">
          <a:solidFill>
            <a:schemeClr val="tx1"/>
          </a:solidFill>
          <a:latin typeface="+mn-lt"/>
          <a:ea typeface="+mn-ea"/>
          <a:cs typeface="+mn-cs"/>
        </a:defRPr>
      </a:lvl1pPr>
      <a:lvl2pPr marL="975360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3415" kern="1200">
          <a:solidFill>
            <a:schemeClr val="tx1"/>
          </a:solidFill>
          <a:latin typeface="+mn-lt"/>
          <a:ea typeface="+mn-ea"/>
          <a:cs typeface="+mn-cs"/>
        </a:defRPr>
      </a:lvl2pPr>
      <a:lvl3pPr marL="1625600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845" kern="1200">
          <a:solidFill>
            <a:schemeClr val="tx1"/>
          </a:solidFill>
          <a:latin typeface="+mn-lt"/>
          <a:ea typeface="+mn-ea"/>
          <a:cs typeface="+mn-cs"/>
        </a:defRPr>
      </a:lvl3pPr>
      <a:lvl4pPr marL="2275840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5445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5685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5925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165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405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8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72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325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565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0805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045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285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94180" y="1038753"/>
            <a:ext cx="11217892" cy="37711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4180" y="5193766"/>
            <a:ext cx="11217892" cy="12379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94180" y="18083336"/>
            <a:ext cx="2926406" cy="10387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308321" y="18083336"/>
            <a:ext cx="4389610" cy="10387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185666" y="18083336"/>
            <a:ext cx="2926406" cy="10387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00480" rtl="0" eaLnBrk="1" latinLnBrk="0" hangingPunct="1">
        <a:lnSpc>
          <a:spcPct val="90000"/>
        </a:lnSpc>
        <a:spcBef>
          <a:spcPct val="0"/>
        </a:spcBef>
        <a:buNone/>
        <a:defRPr sz="62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5120" indent="-325120" algn="l" defTabSz="1300480" rtl="0" eaLnBrk="1" latinLnBrk="0" hangingPunct="1">
        <a:lnSpc>
          <a:spcPct val="90000"/>
        </a:lnSpc>
        <a:spcBef>
          <a:spcPts val="1425"/>
        </a:spcBef>
        <a:buFont typeface="Arial" panose="020B0604020202020204" pitchFamily="34" charset="0"/>
        <a:buChar char="•"/>
        <a:defRPr sz="3985" kern="1200">
          <a:solidFill>
            <a:schemeClr val="tx1"/>
          </a:solidFill>
          <a:latin typeface="+mn-lt"/>
          <a:ea typeface="+mn-ea"/>
          <a:cs typeface="+mn-cs"/>
        </a:defRPr>
      </a:lvl1pPr>
      <a:lvl2pPr marL="975360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3410" kern="1200">
          <a:solidFill>
            <a:schemeClr val="tx1"/>
          </a:solidFill>
          <a:latin typeface="+mn-lt"/>
          <a:ea typeface="+mn-ea"/>
          <a:cs typeface="+mn-cs"/>
        </a:defRPr>
      </a:lvl2pPr>
      <a:lvl3pPr marL="1625600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845" kern="1200">
          <a:solidFill>
            <a:schemeClr val="tx1"/>
          </a:solidFill>
          <a:latin typeface="+mn-lt"/>
          <a:ea typeface="+mn-ea"/>
          <a:cs typeface="+mn-cs"/>
        </a:defRPr>
      </a:lvl3pPr>
      <a:lvl4pPr marL="2275840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926080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575685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5925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165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405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8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72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6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565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0805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045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285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48880" y="1730667"/>
            <a:ext cx="11699039" cy="2007164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48880" y="4239621"/>
            <a:ext cx="11699039" cy="1353811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52720" y="17962064"/>
            <a:ext cx="2879645" cy="90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389859" y="17962064"/>
            <a:ext cx="4223480" cy="90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9468274" y="17962064"/>
            <a:ext cx="2879645" cy="901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42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00480" rtl="0" eaLnBrk="1" fontAlgn="auto" latinLnBrk="0" hangingPunct="1">
        <a:lnSpc>
          <a:spcPct val="100000"/>
        </a:lnSpc>
        <a:spcBef>
          <a:spcPct val="0"/>
        </a:spcBef>
        <a:buNone/>
        <a:defRPr sz="512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325120" indent="-325120" algn="l" defTabSz="130048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56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975360" indent="-325120" algn="l" defTabSz="130048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289175" algn="l"/>
          <a:tab pos="2289175" algn="l"/>
          <a:tab pos="2289175" algn="l"/>
          <a:tab pos="2289175" algn="l"/>
        </a:tabLst>
        <a:defRPr sz="22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625600" indent="-325120" algn="l" defTabSz="130048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22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2275840" indent="-325120" algn="l" defTabSz="130048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9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925445" indent="-325120" algn="l" defTabSz="130048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9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3575685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5925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165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405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8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72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325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565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0805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045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285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48880" y="1730723"/>
            <a:ext cx="11699039" cy="2007229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48880" y="4239759"/>
            <a:ext cx="11699039" cy="13538554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52720" y="17962650"/>
            <a:ext cx="2879645" cy="901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42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2026-5-5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389859" y="17962650"/>
            <a:ext cx="4223480" cy="901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42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9468274" y="17962650"/>
            <a:ext cx="2879645" cy="9012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42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300480" rtl="0" eaLnBrk="1" fontAlgn="auto" latinLnBrk="0" hangingPunct="1">
        <a:lnSpc>
          <a:spcPct val="100000"/>
        </a:lnSpc>
        <a:spcBef>
          <a:spcPct val="0"/>
        </a:spcBef>
        <a:buNone/>
        <a:defRPr sz="512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325120" indent="-325120" algn="l" defTabSz="130048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56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975360" indent="-325120" algn="l" defTabSz="130048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289175" algn="l"/>
          <a:tab pos="2289175" algn="l"/>
          <a:tab pos="2289175" algn="l"/>
          <a:tab pos="2289175" algn="l"/>
        </a:tabLst>
        <a:defRPr sz="22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625600" indent="-325120" algn="l" defTabSz="130048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227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2275840" indent="-325120" algn="l" defTabSz="130048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9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925445" indent="-325120" algn="l" defTabSz="130048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99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3575685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5925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165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405" indent="-325120" algn="l" defTabSz="1300480" rtl="0" eaLnBrk="1" latinLnBrk="0" hangingPunct="1">
        <a:lnSpc>
          <a:spcPct val="90000"/>
        </a:lnSpc>
        <a:spcBef>
          <a:spcPct val="143000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8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720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325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565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0805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045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285" algn="l" defTabSz="130048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31.xml"/><Relationship Id="rId13" Type="http://schemas.openxmlformats.org/officeDocument/2006/relationships/tags" Target="../tags/tag136.xml"/><Relationship Id="rId3" Type="http://schemas.openxmlformats.org/officeDocument/2006/relationships/tags" Target="../tags/tag126.xml"/><Relationship Id="rId7" Type="http://schemas.openxmlformats.org/officeDocument/2006/relationships/tags" Target="../tags/tag130.xml"/><Relationship Id="rId12" Type="http://schemas.openxmlformats.org/officeDocument/2006/relationships/tags" Target="../tags/tag135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tags" Target="../tags/tag129.xml"/><Relationship Id="rId11" Type="http://schemas.openxmlformats.org/officeDocument/2006/relationships/tags" Target="../tags/tag134.xml"/><Relationship Id="rId5" Type="http://schemas.openxmlformats.org/officeDocument/2006/relationships/tags" Target="../tags/tag128.xml"/><Relationship Id="rId15" Type="http://schemas.openxmlformats.org/officeDocument/2006/relationships/image" Target="../media/image2.jpeg"/><Relationship Id="rId10" Type="http://schemas.openxmlformats.org/officeDocument/2006/relationships/tags" Target="../tags/tag133.xml"/><Relationship Id="rId4" Type="http://schemas.openxmlformats.org/officeDocument/2006/relationships/tags" Target="../tags/tag127.xml"/><Relationship Id="rId9" Type="http://schemas.openxmlformats.org/officeDocument/2006/relationships/tags" Target="../tags/tag132.xml"/><Relationship Id="rId14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44.xml"/><Relationship Id="rId13" Type="http://schemas.openxmlformats.org/officeDocument/2006/relationships/tags" Target="../tags/tag149.xml"/><Relationship Id="rId3" Type="http://schemas.openxmlformats.org/officeDocument/2006/relationships/tags" Target="../tags/tag139.xml"/><Relationship Id="rId7" Type="http://schemas.openxmlformats.org/officeDocument/2006/relationships/tags" Target="../tags/tag143.xml"/><Relationship Id="rId12" Type="http://schemas.openxmlformats.org/officeDocument/2006/relationships/tags" Target="../tags/tag148.xml"/><Relationship Id="rId2" Type="http://schemas.openxmlformats.org/officeDocument/2006/relationships/tags" Target="../tags/tag138.xml"/><Relationship Id="rId16" Type="http://schemas.openxmlformats.org/officeDocument/2006/relationships/image" Target="../media/image3.jpeg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1" Type="http://schemas.openxmlformats.org/officeDocument/2006/relationships/tags" Target="../tags/tag147.xml"/><Relationship Id="rId5" Type="http://schemas.openxmlformats.org/officeDocument/2006/relationships/tags" Target="../tags/tag141.xml"/><Relationship Id="rId15" Type="http://schemas.openxmlformats.org/officeDocument/2006/relationships/slideLayout" Target="../slideLayouts/slideLayout13.xml"/><Relationship Id="rId10" Type="http://schemas.openxmlformats.org/officeDocument/2006/relationships/tags" Target="../tags/tag146.xml"/><Relationship Id="rId4" Type="http://schemas.openxmlformats.org/officeDocument/2006/relationships/tags" Target="../tags/tag140.xml"/><Relationship Id="rId9" Type="http://schemas.openxmlformats.org/officeDocument/2006/relationships/tags" Target="../tags/tag145.xml"/><Relationship Id="rId14" Type="http://schemas.openxmlformats.org/officeDocument/2006/relationships/tags" Target="../tags/tag15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5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154.xml"/><Relationship Id="rId7" Type="http://schemas.openxmlformats.org/officeDocument/2006/relationships/slideLayout" Target="../slideLayouts/slideLayout34.xml"/><Relationship Id="rId2" Type="http://schemas.openxmlformats.org/officeDocument/2006/relationships/tags" Target="../tags/tag153.xml"/><Relationship Id="rId1" Type="http://schemas.openxmlformats.org/officeDocument/2006/relationships/tags" Target="../tags/tag152.xml"/><Relationship Id="rId6" Type="http://schemas.openxmlformats.org/officeDocument/2006/relationships/tags" Target="../tags/tag157.xml"/><Relationship Id="rId11" Type="http://schemas.openxmlformats.org/officeDocument/2006/relationships/image" Target="../media/image8.png"/><Relationship Id="rId5" Type="http://schemas.openxmlformats.org/officeDocument/2006/relationships/tags" Target="../tags/tag156.xml"/><Relationship Id="rId10" Type="http://schemas.openxmlformats.org/officeDocument/2006/relationships/image" Target="../media/image7.png"/><Relationship Id="rId4" Type="http://schemas.openxmlformats.org/officeDocument/2006/relationships/tags" Target="../tags/tag155.xm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5.xml"/><Relationship Id="rId1" Type="http://schemas.openxmlformats.org/officeDocument/2006/relationships/tags" Target="../tags/tag1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826135" y="2712720"/>
            <a:ext cx="4080510" cy="13722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2000" dirty="0">
                <a:latin typeface="楷体" panose="02010609060101010101" charset="-122"/>
                <a:ea typeface="楷体" panose="02010609060101010101" charset="-122"/>
              </a:rPr>
              <a:t>吊脚楼是贵州山区少数民族的传统居民形式，以木结构为主，依山而建，架空而居，体现了人与自然和谐共生的</a:t>
            </a:r>
            <a:r>
              <a:rPr lang="zh-CN" altLang="en-US" sz="2000" dirty="0" smtClean="0">
                <a:latin typeface="楷体" panose="02010609060101010101" charset="-122"/>
                <a:ea typeface="楷体" panose="02010609060101010101" charset="-122"/>
              </a:rPr>
              <a:t>智慧</a:t>
            </a:r>
            <a:endParaRPr lang="zh-CN" altLang="en-US" sz="20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2595" y="4339590"/>
            <a:ext cx="1322705" cy="421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+mj-ea"/>
                <a:ea typeface="+mj-ea"/>
              </a:rPr>
              <a:t>分布区域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284487" y="4761396"/>
            <a:ext cx="3124273" cy="1271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主要分布于中国西南山地地区，包括贵州、湘西及广西北部等地，多见于苗族、侗族等少数民族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</a:rPr>
              <a:t>聚落</a:t>
            </a: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72160" y="8469629"/>
            <a:ext cx="1097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贵州地区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72160" y="8837929"/>
            <a:ext cx="1431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湘西地区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72160" y="9202419"/>
            <a:ext cx="1414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广西北部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42595" y="10081259"/>
            <a:ext cx="1322705" cy="419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>
                <a:solidFill>
                  <a:schemeClr val="bg1"/>
                </a:solidFill>
              </a:rPr>
              <a:t>建筑特征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328420" y="10801985"/>
            <a:ext cx="1800860" cy="7835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zh-CN" altLang="en-US" sz="1500" dirty="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</a:rPr>
              <a:t>依山而建，利用高低落差，减少平地</a:t>
            </a:r>
            <a:r>
              <a:rPr lang="zh-CN" altLang="en-US" sz="1500" dirty="0" smtClean="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</a:rPr>
              <a:t>开挖</a:t>
            </a:r>
            <a:endParaRPr lang="zh-CN" altLang="en-US" sz="1500" dirty="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1506914" y="3871595"/>
            <a:ext cx="12814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</a:rPr>
              <a:t>建筑数据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770890" y="18400394"/>
            <a:ext cx="11146155" cy="829946"/>
            <a:chOff x="1216" y="28961"/>
            <a:chExt cx="17553" cy="1307"/>
          </a:xfrm>
        </p:grpSpPr>
        <p:sp>
          <p:nvSpPr>
            <p:cNvPr id="23" name="文本框 22"/>
            <p:cNvSpPr txBox="1"/>
            <p:nvPr/>
          </p:nvSpPr>
          <p:spPr>
            <a:xfrm>
              <a:off x="1216" y="28961"/>
              <a:ext cx="3018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latin typeface="楷体" panose="02010609060101010101" charset="-122"/>
                  <a:ea typeface="楷体" panose="02010609060101010101" charset="-122"/>
                </a:rPr>
                <a:t>原始干栏式建筑，用以适应潮湿和多水的</a:t>
              </a:r>
              <a:r>
                <a:rPr lang="zh-CN" altLang="en-US" sz="1600" dirty="0" smtClean="0">
                  <a:latin typeface="楷体" panose="02010609060101010101" charset="-122"/>
                  <a:ea typeface="楷体" panose="02010609060101010101" charset="-122"/>
                </a:rPr>
                <a:t>自然环境</a:t>
              </a:r>
              <a:endParaRPr lang="zh-CN" altLang="en-US" sz="1600" dirty="0"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5845" y="28961"/>
              <a:ext cx="299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latin typeface="楷体" panose="02010609060101010101" charset="-122"/>
                  <a:ea typeface="楷体" panose="02010609060101010101" charset="-122"/>
                </a:rPr>
                <a:t>吊脚楼在明清时期得到发展，成为山区主要居民</a:t>
              </a:r>
              <a:r>
                <a:rPr lang="zh-CN" altLang="en-US" sz="1600" dirty="0" smtClean="0">
                  <a:latin typeface="楷体" panose="02010609060101010101" charset="-122"/>
                  <a:ea typeface="楷体" panose="02010609060101010101" charset="-122"/>
                </a:rPr>
                <a:t>形式</a:t>
              </a:r>
              <a:endParaRPr lang="zh-CN" altLang="en-US" sz="1600" dirty="0"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0240" y="28961"/>
              <a:ext cx="3244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latin typeface="楷体" panose="02010609060101010101" charset="-122"/>
                  <a:ea typeface="楷体" panose="02010609060101010101" charset="-122"/>
                </a:rPr>
                <a:t>形成独特的村落格局，体现民族文化与建筑智慧的</a:t>
              </a:r>
              <a:r>
                <a:rPr lang="zh-CN" altLang="en-US" sz="1600" dirty="0" smtClean="0">
                  <a:latin typeface="楷体" panose="02010609060101010101" charset="-122"/>
                  <a:ea typeface="楷体" panose="02010609060101010101" charset="-122"/>
                </a:rPr>
                <a:t>结合</a:t>
              </a:r>
              <a:endParaRPr lang="zh-CN" altLang="en-US" sz="1600" dirty="0"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4861" y="28961"/>
              <a:ext cx="3908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latin typeface="楷体" panose="02010609060101010101" charset="-122"/>
                  <a:ea typeface="楷体" panose="02010609060101010101" charset="-122"/>
                </a:rPr>
                <a:t>传统建筑得到保护与利用，成为乡村旅游和文化展示的重要</a:t>
              </a:r>
              <a:r>
                <a:rPr lang="zh-CN" altLang="en-US" sz="1600" dirty="0" smtClean="0">
                  <a:latin typeface="楷体" panose="02010609060101010101" charset="-122"/>
                  <a:ea typeface="楷体" panose="02010609060101010101" charset="-122"/>
                </a:rPr>
                <a:t>资源</a:t>
              </a:r>
              <a:endParaRPr lang="zh-CN" altLang="en-US" sz="1600" dirty="0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424680" y="13527404"/>
            <a:ext cx="6892925" cy="1198246"/>
            <a:chOff x="6786" y="20434"/>
            <a:chExt cx="10855" cy="1887"/>
          </a:xfrm>
        </p:grpSpPr>
        <p:sp>
          <p:nvSpPr>
            <p:cNvPr id="27" name="文本框 26"/>
            <p:cNvSpPr txBox="1"/>
            <p:nvPr/>
          </p:nvSpPr>
          <p:spPr>
            <a:xfrm>
              <a:off x="6786" y="21014"/>
              <a:ext cx="2362" cy="12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just"/>
              <a:r>
                <a:rPr lang="zh-CN" altLang="en-US" sz="1600" dirty="0">
                  <a:solidFill>
                    <a:schemeClr val="tx1"/>
                  </a:solidFill>
                  <a:uFillTx/>
                  <a:latin typeface="楷体" panose="02010609060101010101" charset="-122"/>
                  <a:ea typeface="楷体" panose="02010609060101010101" charset="-122"/>
                </a:rPr>
                <a:t>架空结构有效隔离湿气，保持室内干燥</a:t>
              </a:r>
              <a:r>
                <a:rPr lang="zh-CN" altLang="en-US" sz="1600" dirty="0" smtClean="0">
                  <a:solidFill>
                    <a:schemeClr val="tx1"/>
                  </a:solidFill>
                  <a:uFillTx/>
                  <a:latin typeface="楷体" panose="02010609060101010101" charset="-122"/>
                  <a:ea typeface="楷体" panose="02010609060101010101" charset="-122"/>
                </a:rPr>
                <a:t>通风</a:t>
              </a:r>
              <a:endParaRPr lang="zh-CN" altLang="en-US" sz="1600" dirty="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10838" y="21014"/>
              <a:ext cx="2290" cy="12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just"/>
              <a:r>
                <a:rPr lang="zh-CN" altLang="en-US" sz="1600" dirty="0">
                  <a:latin typeface="楷体" panose="02010609060101010101" charset="-122"/>
                  <a:ea typeface="楷体" panose="02010609060101010101" charset="-122"/>
                </a:rPr>
                <a:t>抬高逐住空间，避免洪水和积水对房屋的</a:t>
              </a:r>
              <a:r>
                <a:rPr lang="zh-CN" altLang="en-US" sz="1600" dirty="0" smtClean="0">
                  <a:latin typeface="楷体" panose="02010609060101010101" charset="-122"/>
                  <a:ea typeface="楷体" panose="02010609060101010101" charset="-122"/>
                </a:rPr>
                <a:t>影响</a:t>
              </a:r>
              <a:endParaRPr lang="zh-CN" altLang="en-US" sz="1600" dirty="0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14804" y="21014"/>
              <a:ext cx="283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14804" y="21014"/>
              <a:ext cx="2442" cy="13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latin typeface="楷体" panose="02010609060101010101" charset="-122"/>
                  <a:ea typeface="楷体" panose="02010609060101010101" charset="-122"/>
                </a:rPr>
                <a:t>充分利用山地空间，减少平地</a:t>
              </a:r>
              <a:r>
                <a:rPr lang="zh-CN" altLang="en-US" sz="1600" dirty="0" smtClean="0">
                  <a:latin typeface="楷体" panose="02010609060101010101" charset="-122"/>
                  <a:ea typeface="楷体" panose="02010609060101010101" charset="-122"/>
                </a:rPr>
                <a:t>占用</a:t>
              </a:r>
              <a:endParaRPr lang="zh-CN" altLang="en-US" sz="1600" dirty="0"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786" y="20434"/>
              <a:ext cx="214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rgbClr val="284F3A"/>
                  </a:solidFill>
                </a:rPr>
                <a:t>防潮通风</a:t>
              </a: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10838" y="20434"/>
              <a:ext cx="205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rgbClr val="284F3A"/>
                  </a:solidFill>
                </a:rPr>
                <a:t>防洪避水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14804" y="20434"/>
              <a:ext cx="2528" cy="58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b="1">
                  <a:solidFill>
                    <a:srgbClr val="284F3A"/>
                  </a:solidFill>
                </a:rPr>
                <a:t>节约土地</a:t>
              </a:r>
            </a:p>
          </p:txBody>
        </p:sp>
      </p:grpSp>
      <p:sp>
        <p:nvSpPr>
          <p:cNvPr id="36" name="文本框 35"/>
          <p:cNvSpPr txBox="1"/>
          <p:nvPr/>
        </p:nvSpPr>
        <p:spPr>
          <a:xfrm>
            <a:off x="9655175" y="3797935"/>
            <a:ext cx="135064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5D471F"/>
                </a:solidFill>
              </a:rPr>
              <a:t>坡屋顶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9655175" y="4166235"/>
            <a:ext cx="1593215" cy="875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700" dirty="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</a:rPr>
              <a:t>倾斜设计，利于排水，减少雨水</a:t>
            </a:r>
            <a:r>
              <a:rPr lang="zh-CN" altLang="en-US" sz="1700" dirty="0" smtClean="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</a:rPr>
              <a:t>积聚</a:t>
            </a:r>
            <a:endParaRPr lang="zh-CN" altLang="en-US" sz="1700" dirty="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0051415" y="6056630"/>
            <a:ext cx="12496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5D471F"/>
                </a:solidFill>
              </a:rPr>
              <a:t>木质结构</a:t>
            </a:r>
            <a:endParaRPr lang="zh-CN" altLang="en-US" sz="2000"/>
          </a:p>
        </p:txBody>
      </p:sp>
      <p:sp>
        <p:nvSpPr>
          <p:cNvPr id="43" name="文本框 42"/>
          <p:cNvSpPr txBox="1"/>
          <p:nvPr/>
        </p:nvSpPr>
        <p:spPr>
          <a:xfrm>
            <a:off x="10051415" y="6455410"/>
            <a:ext cx="1383030" cy="12204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zh-CN" altLang="en-US" sz="1700" dirty="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</a:rPr>
              <a:t>以木材为主，灵活稳固，适应山地</a:t>
            </a:r>
            <a:r>
              <a:rPr lang="zh-CN" altLang="en-US" sz="1700" dirty="0" smtClean="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</a:rPr>
              <a:t>环境</a:t>
            </a:r>
            <a:endParaRPr lang="zh-CN" altLang="en-US" sz="1700" dirty="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10051415" y="7806690"/>
            <a:ext cx="1016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5D471F"/>
                </a:solidFill>
              </a:rPr>
              <a:t>架空层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10051415" y="8188325"/>
            <a:ext cx="1337945" cy="11595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zh-CN" altLang="en-US" sz="1700" dirty="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</a:rPr>
              <a:t>隔离湿气，通风防潮，可用于储物、养殖</a:t>
            </a:r>
            <a:r>
              <a:rPr lang="zh-CN" altLang="en-US" sz="1700" dirty="0" smtClean="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</a:rPr>
              <a:t>等</a:t>
            </a:r>
            <a:endParaRPr lang="zh-CN" altLang="en-US" sz="1700" dirty="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9666605" y="10391139"/>
            <a:ext cx="13392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5D471F"/>
                </a:solidFill>
              </a:rPr>
              <a:t>吊脚支撑</a:t>
            </a:r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9666605" y="10801984"/>
            <a:ext cx="1714500" cy="875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700" dirty="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</a:rPr>
              <a:t>立柱支撑建筑重量，适应坡地地形，增强</a:t>
            </a:r>
            <a:r>
              <a:rPr lang="zh-CN" altLang="en-US" sz="1700" dirty="0" smtClean="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</a:rPr>
              <a:t>稳定性</a:t>
            </a:r>
            <a:endParaRPr lang="zh-CN" altLang="en-US" sz="1700" dirty="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1572954" y="5566410"/>
            <a:ext cx="1212215" cy="385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>
                <a:solidFill>
                  <a:srgbClr val="304C3D"/>
                </a:solidFill>
                <a:latin typeface="+mj-ea"/>
                <a:ea typeface="+mj-ea"/>
              </a:rPr>
              <a:t>结构材料</a:t>
            </a:r>
            <a:endParaRPr lang="zh-CN" altLang="en-US" b="1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 b="1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1572637" y="5951855"/>
            <a:ext cx="11537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木材为主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11572954" y="7541895"/>
            <a:ext cx="1212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304C3D"/>
                </a:solidFill>
              </a:rPr>
              <a:t>建筑层数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1572954" y="9483724"/>
            <a:ext cx="1212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304C3D"/>
                </a:solidFill>
              </a:rPr>
              <a:t>架空高度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11572954" y="11391899"/>
            <a:ext cx="1304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304C3D"/>
                </a:solidFill>
              </a:rPr>
              <a:t>适应坡度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11310620" y="13159104"/>
            <a:ext cx="1691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304C3D"/>
                </a:solidFill>
              </a:rPr>
              <a:t>主要居住民族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11768217" y="7910194"/>
            <a:ext cx="958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2-3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层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11636137" y="9852024"/>
            <a:ext cx="1085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1.5-3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米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11717099" y="11760199"/>
            <a:ext cx="101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uFillTx/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15º-45º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1310938" y="13493114"/>
            <a:ext cx="1629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苗族、侗族等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462280" y="15189200"/>
            <a:ext cx="12585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</a:rPr>
              <a:t>历史演变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1085215" y="16069945"/>
            <a:ext cx="23926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干栏式建筑雏形形成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4050665" y="16069945"/>
            <a:ext cx="27184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结构逐渐成熟并广泛应用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6881495" y="16069945"/>
            <a:ext cx="2657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形成稳定民族聚落形态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1156970" y="15587980"/>
            <a:ext cx="7124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846342"/>
                </a:solidFill>
              </a:rPr>
              <a:t>古代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4050665" y="15565120"/>
            <a:ext cx="721995" cy="4216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>
                <a:solidFill>
                  <a:srgbClr val="B0630F"/>
                </a:solidFill>
              </a:rPr>
              <a:t>明清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6882130" y="15587980"/>
            <a:ext cx="8134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556E4C"/>
                </a:solidFill>
              </a:rPr>
              <a:t>近代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9768205" y="15587980"/>
            <a:ext cx="16865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1E483D"/>
                </a:solidFill>
              </a:rPr>
              <a:t>现代</a:t>
            </a:r>
          </a:p>
        </p:txBody>
      </p:sp>
      <p:sp>
        <p:nvSpPr>
          <p:cNvPr id="75" name="文本框 74"/>
          <p:cNvSpPr txBox="1"/>
          <p:nvPr/>
        </p:nvSpPr>
        <p:spPr>
          <a:xfrm>
            <a:off x="9768205" y="16069945"/>
            <a:ext cx="2853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文化保护与旅游开发并行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809365" y="12854305"/>
            <a:ext cx="1205230" cy="3740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>
                <a:solidFill>
                  <a:srgbClr val="284F3A"/>
                </a:solidFill>
              </a:rPr>
              <a:t>功能优势</a:t>
            </a:r>
          </a:p>
        </p:txBody>
      </p:sp>
      <p:sp>
        <p:nvSpPr>
          <p:cNvPr id="15" name="椭圆 14"/>
          <p:cNvSpPr/>
          <p:nvPr/>
        </p:nvSpPr>
        <p:spPr>
          <a:xfrm>
            <a:off x="10046970" y="6257290"/>
            <a:ext cx="75565" cy="75565"/>
          </a:xfrm>
          <a:prstGeom prst="ellipse">
            <a:avLst/>
          </a:prstGeom>
          <a:solidFill>
            <a:srgbClr val="965B4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1328420" y="10584814"/>
            <a:ext cx="13589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284F3A"/>
                </a:solidFill>
              </a:rPr>
              <a:t>顺应地形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1328420" y="11883390"/>
            <a:ext cx="180086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500" dirty="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</a:rPr>
              <a:t>主要使用杉木、青瓦与基石，降低建造</a:t>
            </a:r>
            <a:r>
              <a:rPr lang="zh-CN" altLang="en-US" sz="1500" dirty="0" smtClean="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</a:rPr>
              <a:t>成本</a:t>
            </a:r>
            <a:endParaRPr lang="zh-CN" altLang="en-US" sz="1500" dirty="0">
              <a:solidFill>
                <a:schemeClr val="tx1"/>
              </a:solidFill>
              <a:uFillTx/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328420" y="11637644"/>
            <a:ext cx="13589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284F3A"/>
                </a:solidFill>
              </a:rPr>
              <a:t>就地取材</a:t>
            </a:r>
          </a:p>
        </p:txBody>
      </p:sp>
      <p:grpSp>
        <p:nvGrpSpPr>
          <p:cNvPr id="52" name="组合 51"/>
          <p:cNvGrpSpPr/>
          <p:nvPr/>
        </p:nvGrpSpPr>
        <p:grpSpPr>
          <a:xfrm>
            <a:off x="1328420" y="12666980"/>
            <a:ext cx="1800860" cy="1029335"/>
            <a:chOff x="2292" y="18527"/>
            <a:chExt cx="2836" cy="1621"/>
          </a:xfrm>
        </p:grpSpPr>
        <p:sp>
          <p:nvSpPr>
            <p:cNvPr id="44" name="文本框 43"/>
            <p:cNvSpPr txBox="1"/>
            <p:nvPr/>
          </p:nvSpPr>
          <p:spPr>
            <a:xfrm>
              <a:off x="2292" y="18914"/>
              <a:ext cx="2836" cy="1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500" dirty="0">
                  <a:solidFill>
                    <a:schemeClr val="tx1"/>
                  </a:solidFill>
                  <a:uFillTx/>
                  <a:latin typeface="楷体" panose="02010609060101010101" charset="-122"/>
                  <a:ea typeface="楷体" panose="02010609060101010101" charset="-122"/>
                </a:rPr>
                <a:t>传统木结构咬合连接，增强整体</a:t>
              </a:r>
              <a:r>
                <a:rPr lang="zh-CN" altLang="en-US" sz="1500" dirty="0" smtClean="0">
                  <a:solidFill>
                    <a:schemeClr val="tx1"/>
                  </a:solidFill>
                  <a:uFillTx/>
                  <a:latin typeface="楷体" panose="02010609060101010101" charset="-122"/>
                  <a:ea typeface="楷体" panose="02010609060101010101" charset="-122"/>
                </a:rPr>
                <a:t>稳定性</a:t>
              </a:r>
              <a:endParaRPr lang="zh-CN" altLang="en-US" sz="1500" dirty="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2292" y="18527"/>
              <a:ext cx="214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>
                  <a:solidFill>
                    <a:srgbClr val="284F3A"/>
                  </a:solidFill>
                </a:rPr>
                <a:t>榫卯结构</a:t>
              </a: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1328420" y="13660755"/>
            <a:ext cx="1800860" cy="1029335"/>
            <a:chOff x="2292" y="18527"/>
            <a:chExt cx="2836" cy="1621"/>
          </a:xfrm>
        </p:grpSpPr>
        <p:sp>
          <p:nvSpPr>
            <p:cNvPr id="61" name="文本框 60"/>
            <p:cNvSpPr txBox="1"/>
            <p:nvPr/>
          </p:nvSpPr>
          <p:spPr>
            <a:xfrm>
              <a:off x="2292" y="18914"/>
              <a:ext cx="2836" cy="1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500" dirty="0">
                  <a:solidFill>
                    <a:schemeClr val="tx1"/>
                  </a:solidFill>
                  <a:uFillTx/>
                  <a:latin typeface="楷体" panose="02010609060101010101" charset="-122"/>
                  <a:ea typeface="楷体" panose="02010609060101010101" charset="-122"/>
                </a:rPr>
                <a:t>底层抬升减少潮湿影响，适应多雨</a:t>
              </a:r>
              <a:r>
                <a:rPr lang="zh-CN" altLang="en-US" sz="1500" dirty="0" smtClean="0">
                  <a:solidFill>
                    <a:schemeClr val="tx1"/>
                  </a:solidFill>
                  <a:uFillTx/>
                  <a:latin typeface="楷体" panose="02010609060101010101" charset="-122"/>
                  <a:ea typeface="楷体" panose="02010609060101010101" charset="-122"/>
                </a:rPr>
                <a:t>环境</a:t>
              </a:r>
              <a:endParaRPr lang="zh-CN" altLang="en-US" sz="1500" dirty="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2292" y="18527"/>
              <a:ext cx="2140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>
                  <a:solidFill>
                    <a:srgbClr val="284F3A"/>
                  </a:solidFill>
                </a:rPr>
                <a:t>架空设计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53401" y="2245467"/>
            <a:ext cx="124970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</a:rPr>
              <a:t>建造原因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251047" y="2245467"/>
            <a:ext cx="1260504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</a:rPr>
              <a:t>结构优势</a:t>
            </a:r>
          </a:p>
        </p:txBody>
      </p:sp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483237" y="3936361"/>
            <a:ext cx="119001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山地地形</a:t>
            </a: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382270" y="4372763"/>
            <a:ext cx="1350678" cy="64516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地势起伏大，平地稀疏</a:t>
            </a:r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83237" y="6347025"/>
            <a:ext cx="119890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多雨环境</a:t>
            </a:r>
          </a:p>
        </p:txBody>
      </p:sp>
      <p:sp>
        <p:nvSpPr>
          <p:cNvPr id="14" name="文本框 13"/>
          <p:cNvSpPr txBox="1"/>
          <p:nvPr>
            <p:custDataLst>
              <p:tags r:id="rId4"/>
            </p:custDataLst>
          </p:nvPr>
        </p:nvSpPr>
        <p:spPr>
          <a:xfrm>
            <a:off x="499113" y="6764231"/>
            <a:ext cx="1116992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降雨丰富，地面积水严重</a:t>
            </a: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483237" y="8425179"/>
            <a:ext cx="113794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湿热气候</a:t>
            </a:r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488635" y="8876290"/>
            <a:ext cx="1137948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空气湿度高，易受潮发霉</a:t>
            </a:r>
          </a:p>
        </p:txBody>
      </p:sp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1272836" y="3949061"/>
            <a:ext cx="1219201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防潮防洪</a:t>
            </a: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1192826" y="4337046"/>
            <a:ext cx="1402081" cy="965836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架空设计有效隔离地面湿气和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sym typeface="+mn-ea"/>
              </a:rPr>
              <a:t>洪水</a:t>
            </a: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/>
          </a:p>
        </p:txBody>
      </p:sp>
      <p:grpSp>
        <p:nvGrpSpPr>
          <p:cNvPr id="53" name="组合 52"/>
          <p:cNvGrpSpPr/>
          <p:nvPr>
            <p:custDataLst>
              <p:tags r:id="rId9"/>
            </p:custDataLst>
          </p:nvPr>
        </p:nvGrpSpPr>
        <p:grpSpPr>
          <a:xfrm>
            <a:off x="11066144" y="6119492"/>
            <a:ext cx="1678306" cy="1331596"/>
            <a:chOff x="625" y="7038"/>
            <a:chExt cx="2643" cy="2097"/>
          </a:xfrm>
        </p:grpSpPr>
        <p:sp>
          <p:nvSpPr>
            <p:cNvPr id="54" name="文本框 53"/>
            <p:cNvSpPr txBox="1"/>
            <p:nvPr>
              <p:custDataLst>
                <p:tags r:id="rId12"/>
              </p:custDataLst>
            </p:nvPr>
          </p:nvSpPr>
          <p:spPr>
            <a:xfrm>
              <a:off x="625" y="7683"/>
              <a:ext cx="2643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dirty="0">
                  <a:latin typeface="楷体" panose="02010609060101010101" charset="-122"/>
                  <a:ea typeface="楷体" panose="02010609060101010101" charset="-122"/>
                </a:rPr>
                <a:t>木架结构整体性好，抗震性能</a:t>
              </a:r>
              <a:r>
                <a:rPr lang="zh-CN" altLang="en-US" dirty="0" smtClean="0">
                  <a:latin typeface="楷体" panose="02010609060101010101" charset="-122"/>
                  <a:ea typeface="楷体" panose="02010609060101010101" charset="-122"/>
                </a:rPr>
                <a:t>优越</a:t>
              </a:r>
              <a:endParaRPr lang="zh-CN" altLang="en-US" dirty="0"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55" name="文本框 54"/>
            <p:cNvSpPr txBox="1"/>
            <p:nvPr>
              <p:custDataLst>
                <p:tags r:id="rId13"/>
              </p:custDataLst>
            </p:nvPr>
          </p:nvSpPr>
          <p:spPr>
            <a:xfrm>
              <a:off x="889" y="7038"/>
              <a:ext cx="204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chemeClr val="tx1"/>
                  </a:solidFill>
                  <a:latin typeface="+mj-ea"/>
                  <a:ea typeface="+mj-ea"/>
                </a:rPr>
                <a:t>稳定性强</a:t>
              </a:r>
            </a:p>
          </p:txBody>
        </p:sp>
      </p:grpSp>
      <p:sp>
        <p:nvSpPr>
          <p:cNvPr id="28" name="文本框 27"/>
          <p:cNvSpPr txBox="1"/>
          <p:nvPr>
            <p:custDataLst>
              <p:tags r:id="rId10"/>
            </p:custDataLst>
          </p:nvPr>
        </p:nvSpPr>
        <p:spPr>
          <a:xfrm>
            <a:off x="11273789" y="8425179"/>
            <a:ext cx="1292860" cy="36830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zh-CN" altLang="en-US" b="1"/>
              <a:t>通风良好</a:t>
            </a:r>
          </a:p>
        </p:txBody>
      </p:sp>
      <p:sp>
        <p:nvSpPr>
          <p:cNvPr id="29" name="文本框 28"/>
          <p:cNvSpPr txBox="1"/>
          <p:nvPr>
            <p:custDataLst>
              <p:tags r:id="rId11"/>
            </p:custDataLst>
          </p:nvPr>
        </p:nvSpPr>
        <p:spPr>
          <a:xfrm>
            <a:off x="11066144" y="8807449"/>
            <a:ext cx="1708150" cy="11988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zh-CN" altLang="en-US" dirty="0">
                <a:latin typeface="楷体" panose="02010609060101010101" charset="-122"/>
                <a:ea typeface="楷体" panose="02010609060101010101" charset="-122"/>
                <a:sym typeface="+mn-ea"/>
              </a:rPr>
              <a:t>架空层促进空气流通，改善室内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  <a:sym typeface="+mn-ea"/>
              </a:rPr>
              <a:t>环境</a:t>
            </a: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  <a:p>
            <a:endParaRPr lang="zh-CN" altLang="en-US"/>
          </a:p>
        </p:txBody>
      </p:sp>
      <p:grpSp>
        <p:nvGrpSpPr>
          <p:cNvPr id="65" name="组合 64"/>
          <p:cNvGrpSpPr/>
          <p:nvPr/>
        </p:nvGrpSpPr>
        <p:grpSpPr>
          <a:xfrm>
            <a:off x="8159115" y="2122805"/>
            <a:ext cx="2514600" cy="1320800"/>
            <a:chOff x="12877" y="3961"/>
            <a:chExt cx="3960" cy="2080"/>
          </a:xfrm>
        </p:grpSpPr>
        <p:sp>
          <p:nvSpPr>
            <p:cNvPr id="62" name="椭圆 61"/>
            <p:cNvSpPr/>
            <p:nvPr/>
          </p:nvSpPr>
          <p:spPr>
            <a:xfrm>
              <a:off x="12877" y="3971"/>
              <a:ext cx="636" cy="618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/>
                <a:t>1</a:t>
              </a: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3513" y="3961"/>
              <a:ext cx="144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>
                  <a:solidFill>
                    <a:srgbClr val="843F0B"/>
                  </a:solidFill>
                </a:rPr>
                <a:t>立柱</a:t>
              </a: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13513" y="4589"/>
              <a:ext cx="3324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dirty="0">
                  <a:latin typeface="楷体" panose="02010609060101010101" charset="-122"/>
                  <a:ea typeface="楷体" panose="02010609060101010101" charset="-122"/>
                </a:rPr>
                <a:t>承载上部荷载，将重量传至地面，保证整体</a:t>
              </a:r>
              <a:r>
                <a:rPr lang="zh-CN" altLang="en-US" dirty="0" smtClean="0">
                  <a:latin typeface="楷体" panose="02010609060101010101" charset="-122"/>
                  <a:ea typeface="楷体" panose="02010609060101010101" charset="-122"/>
                </a:rPr>
                <a:t>稳定性</a:t>
              </a:r>
              <a:endParaRPr lang="zh-CN" altLang="en-US" dirty="0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grpSp>
        <p:nvGrpSpPr>
          <p:cNvPr id="71" name="组合 70"/>
          <p:cNvGrpSpPr/>
          <p:nvPr/>
        </p:nvGrpSpPr>
        <p:grpSpPr>
          <a:xfrm>
            <a:off x="8159115" y="3489960"/>
            <a:ext cx="2514600" cy="1320800"/>
            <a:chOff x="12877" y="3961"/>
            <a:chExt cx="3960" cy="2080"/>
          </a:xfrm>
        </p:grpSpPr>
        <p:sp>
          <p:nvSpPr>
            <p:cNvPr id="72" name="椭圆 71"/>
            <p:cNvSpPr/>
            <p:nvPr/>
          </p:nvSpPr>
          <p:spPr>
            <a:xfrm>
              <a:off x="12877" y="3971"/>
              <a:ext cx="636" cy="618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/>
                <a:t>2</a:t>
              </a: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13513" y="3961"/>
              <a:ext cx="144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>
                  <a:solidFill>
                    <a:srgbClr val="843F0B"/>
                  </a:solidFill>
                </a:rPr>
                <a:t>横梁</a:t>
              </a: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13513" y="4589"/>
              <a:ext cx="3324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dirty="0">
                  <a:latin typeface="楷体" panose="02010609060101010101" charset="-122"/>
                  <a:ea typeface="楷体" panose="02010609060101010101" charset="-122"/>
                </a:rPr>
                <a:t>连接立柱，形成框架结构，增强整体</a:t>
              </a:r>
              <a:r>
                <a:rPr lang="zh-CN" altLang="en-US" dirty="0" smtClean="0">
                  <a:latin typeface="楷体" panose="02010609060101010101" charset="-122"/>
                  <a:ea typeface="楷体" panose="02010609060101010101" charset="-122"/>
                </a:rPr>
                <a:t>稳定性</a:t>
              </a:r>
              <a:endParaRPr lang="zh-CN" altLang="en-US" dirty="0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8159115" y="4818380"/>
            <a:ext cx="2514600" cy="1320800"/>
            <a:chOff x="12877" y="3961"/>
            <a:chExt cx="3960" cy="2080"/>
          </a:xfrm>
        </p:grpSpPr>
        <p:sp>
          <p:nvSpPr>
            <p:cNvPr id="76" name="椭圆 75"/>
            <p:cNvSpPr/>
            <p:nvPr/>
          </p:nvSpPr>
          <p:spPr>
            <a:xfrm>
              <a:off x="12877" y="3971"/>
              <a:ext cx="636" cy="618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/>
                <a:t>3</a:t>
              </a: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3513" y="3961"/>
              <a:ext cx="144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>
                  <a:solidFill>
                    <a:srgbClr val="843F0B"/>
                  </a:solidFill>
                </a:rPr>
                <a:t>楼板</a:t>
              </a: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13513" y="4589"/>
              <a:ext cx="3324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dirty="0">
                  <a:latin typeface="楷体" panose="02010609060101010101" charset="-122"/>
                  <a:ea typeface="楷体" panose="02010609060101010101" charset="-122"/>
                </a:rPr>
                <a:t>提供居住与活动空间，分隔上下曾功能</a:t>
              </a:r>
              <a:r>
                <a:rPr lang="zh-CN" altLang="en-US" dirty="0" smtClean="0">
                  <a:latin typeface="楷体" panose="02010609060101010101" charset="-122"/>
                  <a:ea typeface="楷体" panose="02010609060101010101" charset="-122"/>
                </a:rPr>
                <a:t>区域</a:t>
              </a:r>
              <a:endParaRPr lang="zh-CN" altLang="en-US" dirty="0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8159115" y="6110605"/>
            <a:ext cx="2514600" cy="1478915"/>
            <a:chOff x="12877" y="3961"/>
            <a:chExt cx="3960" cy="2329"/>
          </a:xfrm>
        </p:grpSpPr>
        <p:sp>
          <p:nvSpPr>
            <p:cNvPr id="80" name="椭圆 79"/>
            <p:cNvSpPr/>
            <p:nvPr/>
          </p:nvSpPr>
          <p:spPr>
            <a:xfrm>
              <a:off x="12877" y="3971"/>
              <a:ext cx="636" cy="618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/>
                <a:t>4</a:t>
              </a: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13513" y="3961"/>
              <a:ext cx="144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>
                  <a:solidFill>
                    <a:srgbClr val="843F0B"/>
                  </a:solidFill>
                </a:rPr>
                <a:t>廊栏</a:t>
              </a: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13513" y="4402"/>
              <a:ext cx="3324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dirty="0">
                  <a:latin typeface="楷体" panose="02010609060101010101" charset="-122"/>
                  <a:ea typeface="楷体" panose="02010609060101010101" charset="-122"/>
                </a:rPr>
                <a:t>回廊围护结构，起到安全防护、空间围合、通风观景的作用</a:t>
              </a: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8159115" y="7519669"/>
            <a:ext cx="2514600" cy="1320800"/>
            <a:chOff x="12877" y="3961"/>
            <a:chExt cx="3960" cy="2080"/>
          </a:xfrm>
        </p:grpSpPr>
        <p:sp>
          <p:nvSpPr>
            <p:cNvPr id="84" name="椭圆 83"/>
            <p:cNvSpPr/>
            <p:nvPr/>
          </p:nvSpPr>
          <p:spPr>
            <a:xfrm>
              <a:off x="12877" y="3971"/>
              <a:ext cx="636" cy="618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/>
                <a:t>5</a:t>
              </a: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13513" y="3961"/>
              <a:ext cx="215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>
                  <a:solidFill>
                    <a:srgbClr val="843F0B"/>
                  </a:solidFill>
                </a:rPr>
                <a:t>吊脚支撑</a:t>
              </a: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13513" y="4589"/>
              <a:ext cx="3324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dirty="0">
                  <a:latin typeface="楷体" panose="02010609060101010101" charset="-122"/>
                  <a:ea typeface="楷体" panose="02010609060101010101" charset="-122"/>
                </a:rPr>
                <a:t>支撑架空结构，适应坡地地形，增强</a:t>
              </a:r>
              <a:r>
                <a:rPr lang="zh-CN" altLang="en-US" dirty="0" smtClean="0">
                  <a:latin typeface="楷体" panose="02010609060101010101" charset="-122"/>
                  <a:ea typeface="楷体" panose="02010609060101010101" charset="-122"/>
                </a:rPr>
                <a:t>稳定性</a:t>
              </a:r>
              <a:endParaRPr lang="zh-CN" altLang="en-US" dirty="0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8159115" y="8916033"/>
            <a:ext cx="2514600" cy="1320800"/>
            <a:chOff x="12877" y="3961"/>
            <a:chExt cx="3960" cy="2080"/>
          </a:xfrm>
        </p:grpSpPr>
        <p:sp>
          <p:nvSpPr>
            <p:cNvPr id="89" name="椭圆 88"/>
            <p:cNvSpPr/>
            <p:nvPr/>
          </p:nvSpPr>
          <p:spPr>
            <a:xfrm>
              <a:off x="12877" y="3971"/>
              <a:ext cx="636" cy="618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/>
                <a:t>6</a:t>
              </a:r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13513" y="3961"/>
              <a:ext cx="2155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>
                  <a:solidFill>
                    <a:srgbClr val="843F0B"/>
                  </a:solidFill>
                </a:rPr>
                <a:t>架空层</a:t>
              </a: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13513" y="4589"/>
              <a:ext cx="3324" cy="1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dirty="0">
                  <a:latin typeface="楷体" panose="02010609060101010101" charset="-122"/>
                  <a:ea typeface="楷体" panose="02010609060101010101" charset="-122"/>
                </a:rPr>
                <a:t>隔离湿气，通风防潮，可用于储物、养殖等</a:t>
              </a:r>
              <a:r>
                <a:rPr lang="zh-CN" altLang="en-US" dirty="0" smtClean="0">
                  <a:latin typeface="楷体" panose="02010609060101010101" charset="-122"/>
                  <a:ea typeface="楷体" panose="02010609060101010101" charset="-122"/>
                </a:rPr>
                <a:t>用途</a:t>
              </a:r>
              <a:endParaRPr lang="zh-CN" altLang="en-US" dirty="0">
                <a:latin typeface="楷体" panose="02010609060101010101" charset="-122"/>
                <a:ea typeface="楷体" panose="02010609060101010101" charset="-122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357505" y="10509884"/>
            <a:ext cx="25895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  <a:latin typeface="+mj-ea"/>
                <a:ea typeface="+mj-ea"/>
              </a:rPr>
              <a:t>受力分析（力学模型）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357505" y="10890249"/>
            <a:ext cx="3593465" cy="1534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>
                <a:solidFill>
                  <a:schemeClr val="tx1"/>
                </a:solidFill>
                <a:uFillTx/>
                <a:latin typeface="楷体" panose="02010609060101010101" charset="-122"/>
                <a:ea typeface="楷体" panose="02010609060101010101" charset="-122"/>
              </a:rPr>
              <a:t>吊脚楼通过立柱与横梁形成稳定的框架体系，荷载经由梁柱传递至吊脚支撑，再分散至基础。结构在竖向载荷，水平载荷（风荷载、地震荷载）作用下，依靠木构件的柔性连接与整体协同工作实现稳定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965200" y="12555854"/>
            <a:ext cx="18707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竖向荷载（重力）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965200" y="12848589"/>
            <a:ext cx="19386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风荷载（水平力）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965200" y="13133704"/>
            <a:ext cx="2072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地震作用（水平力）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965200" y="13432154"/>
            <a:ext cx="24282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支撑反力（基础反力）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426720" y="13989684"/>
            <a:ext cx="18288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7C4E31"/>
                </a:solidFill>
              </a:rPr>
              <a:t>载荷传递路径解析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692468" y="15546069"/>
            <a:ext cx="11201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屋面荷载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357505" y="15800069"/>
            <a:ext cx="19272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（瓦、雪、风等）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2551430" y="15546069"/>
            <a:ext cx="15474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屋架传递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2284730" y="15800069"/>
            <a:ext cx="15817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（檩条、椽条）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4282440" y="15546069"/>
            <a:ext cx="15474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横梁传递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6048375" y="15546069"/>
            <a:ext cx="14890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楼板传递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7791450" y="15546069"/>
            <a:ext cx="12236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立柱传递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9361805" y="15546069"/>
            <a:ext cx="15589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吊脚支撑传递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11221085" y="15546069"/>
            <a:ext cx="11087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基础承载</a:t>
            </a:r>
          </a:p>
        </p:txBody>
      </p:sp>
      <p:sp>
        <p:nvSpPr>
          <p:cNvPr id="87" name="文本框 86"/>
          <p:cNvSpPr txBox="1"/>
          <p:nvPr/>
        </p:nvSpPr>
        <p:spPr>
          <a:xfrm>
            <a:off x="4039870" y="15788639"/>
            <a:ext cx="18357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（主梁、次梁）</a:t>
            </a:r>
          </a:p>
        </p:txBody>
      </p:sp>
      <p:sp>
        <p:nvSpPr>
          <p:cNvPr id="95" name="文本框 94"/>
          <p:cNvSpPr txBox="1"/>
          <p:nvPr/>
        </p:nvSpPr>
        <p:spPr>
          <a:xfrm>
            <a:off x="5783580" y="15811499"/>
            <a:ext cx="17087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（面荷载分布）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7584440" y="15811499"/>
            <a:ext cx="12122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（竖向荷载）</a:t>
            </a:r>
          </a:p>
        </p:txBody>
      </p:sp>
      <p:sp>
        <p:nvSpPr>
          <p:cNvPr id="97" name="文本框 96"/>
          <p:cNvSpPr txBox="1"/>
          <p:nvPr/>
        </p:nvSpPr>
        <p:spPr>
          <a:xfrm>
            <a:off x="9269730" y="15811499"/>
            <a:ext cx="16617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（斜撑、柱脚）</a:t>
            </a:r>
          </a:p>
        </p:txBody>
      </p:sp>
      <p:sp>
        <p:nvSpPr>
          <p:cNvPr id="98" name="文本框 97"/>
          <p:cNvSpPr txBox="1"/>
          <p:nvPr/>
        </p:nvSpPr>
        <p:spPr>
          <a:xfrm>
            <a:off x="10967085" y="15811499"/>
            <a:ext cx="16046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（石墩、地基）</a:t>
            </a:r>
          </a:p>
        </p:txBody>
      </p:sp>
      <p:sp>
        <p:nvSpPr>
          <p:cNvPr id="99" name="文本框 98"/>
          <p:cNvSpPr txBox="1"/>
          <p:nvPr/>
        </p:nvSpPr>
        <p:spPr>
          <a:xfrm>
            <a:off x="345440" y="16397604"/>
            <a:ext cx="12496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chemeClr val="bg1"/>
                </a:solidFill>
              </a:rPr>
              <a:t>主要材料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3302000" y="16428084"/>
            <a:ext cx="1727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榫卯连接方式</a:t>
            </a:r>
          </a:p>
        </p:txBody>
      </p:sp>
      <p:sp>
        <p:nvSpPr>
          <p:cNvPr id="101" name="文本框 100"/>
          <p:cNvSpPr txBox="1"/>
          <p:nvPr/>
        </p:nvSpPr>
        <p:spPr>
          <a:xfrm>
            <a:off x="8999855" y="16428084"/>
            <a:ext cx="1717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结构抗震原理</a:t>
            </a:r>
          </a:p>
        </p:txBody>
      </p:sp>
      <p:grpSp>
        <p:nvGrpSpPr>
          <p:cNvPr id="102" name="组合 101"/>
          <p:cNvGrpSpPr/>
          <p:nvPr/>
        </p:nvGrpSpPr>
        <p:grpSpPr>
          <a:xfrm>
            <a:off x="1031240" y="16800193"/>
            <a:ext cx="2026920" cy="838065"/>
            <a:chOff x="487" y="6943"/>
            <a:chExt cx="3192" cy="1475"/>
          </a:xfrm>
        </p:grpSpPr>
        <p:sp>
          <p:nvSpPr>
            <p:cNvPr id="103" name="文本框 102"/>
            <p:cNvSpPr txBox="1"/>
            <p:nvPr/>
          </p:nvSpPr>
          <p:spPr>
            <a:xfrm>
              <a:off x="487" y="7391"/>
              <a:ext cx="3192" cy="1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楷体" panose="02010609060101010101" charset="-122"/>
                  <a:ea typeface="楷体" panose="02010609060101010101" charset="-122"/>
                </a:rPr>
                <a:t>使用当地杉木、松木等，轻便且韧性</a:t>
              </a:r>
              <a:r>
                <a:rPr lang="zh-CN" altLang="en-US" sz="1600" dirty="0" smtClean="0">
                  <a:latin typeface="楷体" panose="02010609060101010101" charset="-122"/>
                  <a:ea typeface="楷体" panose="02010609060101010101" charset="-122"/>
                </a:rPr>
                <a:t>好</a:t>
              </a:r>
              <a:endParaRPr lang="zh-CN" altLang="en-US" sz="1600" dirty="0"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487" y="6943"/>
              <a:ext cx="2044" cy="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>
                  <a:solidFill>
                    <a:schemeClr val="tx1"/>
                  </a:solidFill>
                  <a:latin typeface="+mj-ea"/>
                  <a:ea typeface="+mj-ea"/>
                </a:rPr>
                <a:t>木材为主</a:t>
              </a:r>
            </a:p>
          </p:txBody>
        </p:sp>
      </p:grpSp>
      <p:grpSp>
        <p:nvGrpSpPr>
          <p:cNvPr id="105" name="组合 104"/>
          <p:cNvGrpSpPr/>
          <p:nvPr/>
        </p:nvGrpSpPr>
        <p:grpSpPr>
          <a:xfrm>
            <a:off x="1031240" y="17667738"/>
            <a:ext cx="2108200" cy="857383"/>
            <a:chOff x="551" y="6943"/>
            <a:chExt cx="3320" cy="1509"/>
          </a:xfrm>
        </p:grpSpPr>
        <p:sp>
          <p:nvSpPr>
            <p:cNvPr id="106" name="文本框 105"/>
            <p:cNvSpPr txBox="1"/>
            <p:nvPr/>
          </p:nvSpPr>
          <p:spPr>
            <a:xfrm>
              <a:off x="551" y="7425"/>
              <a:ext cx="3320" cy="1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楷体" panose="02010609060101010101" charset="-122"/>
                  <a:ea typeface="楷体" panose="02010609060101010101" charset="-122"/>
                </a:rPr>
                <a:t>底部以石块或混凝土加固，增强</a:t>
              </a:r>
              <a:r>
                <a:rPr lang="zh-CN" altLang="en-US" sz="1600" dirty="0" smtClean="0">
                  <a:latin typeface="楷体" panose="02010609060101010101" charset="-122"/>
                  <a:ea typeface="楷体" panose="02010609060101010101" charset="-122"/>
                </a:rPr>
                <a:t>耐久性</a:t>
              </a:r>
              <a:endParaRPr lang="zh-CN" altLang="en-US" sz="1600" dirty="0"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107" name="文本框 106"/>
            <p:cNvSpPr txBox="1"/>
            <p:nvPr/>
          </p:nvSpPr>
          <p:spPr>
            <a:xfrm>
              <a:off x="551" y="6943"/>
              <a:ext cx="2044" cy="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tx1"/>
                  </a:solidFill>
                  <a:latin typeface="+mj-ea"/>
                  <a:ea typeface="+mj-ea"/>
                </a:rPr>
                <a:t>石基础</a:t>
              </a: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1031240" y="18497549"/>
            <a:ext cx="2027555" cy="867042"/>
            <a:chOff x="551" y="6926"/>
            <a:chExt cx="3193" cy="1526"/>
          </a:xfrm>
        </p:grpSpPr>
        <p:sp>
          <p:nvSpPr>
            <p:cNvPr id="109" name="文本框 108"/>
            <p:cNvSpPr txBox="1"/>
            <p:nvPr/>
          </p:nvSpPr>
          <p:spPr>
            <a:xfrm>
              <a:off x="551" y="7425"/>
              <a:ext cx="3193" cy="1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楷体" panose="02010609060101010101" charset="-122"/>
                  <a:ea typeface="楷体" panose="02010609060101010101" charset="-122"/>
                </a:rPr>
                <a:t>多为小青砖，防水耐用，适应多雨</a:t>
              </a:r>
              <a:r>
                <a:rPr lang="zh-CN" altLang="en-US" sz="1600" dirty="0" smtClean="0">
                  <a:latin typeface="楷体" panose="02010609060101010101" charset="-122"/>
                  <a:ea typeface="楷体" panose="02010609060101010101" charset="-122"/>
                </a:rPr>
                <a:t>气候</a:t>
              </a:r>
              <a:endParaRPr lang="zh-CN" altLang="en-US" sz="1600" dirty="0"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551" y="6926"/>
              <a:ext cx="2044" cy="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tx1"/>
                  </a:solidFill>
                  <a:latin typeface="+mj-ea"/>
                  <a:ea typeface="+mj-ea"/>
                </a:rPr>
                <a:t>屋面瓦片</a:t>
              </a:r>
            </a:p>
          </p:txBody>
        </p:sp>
      </p:grpSp>
      <p:grpSp>
        <p:nvGrpSpPr>
          <p:cNvPr id="115" name="组合 114"/>
          <p:cNvGrpSpPr/>
          <p:nvPr/>
        </p:nvGrpSpPr>
        <p:grpSpPr>
          <a:xfrm>
            <a:off x="3126722" y="18262598"/>
            <a:ext cx="1423390" cy="1129100"/>
            <a:chOff x="627" y="6943"/>
            <a:chExt cx="3216" cy="1987"/>
          </a:xfrm>
        </p:grpSpPr>
        <p:sp>
          <p:nvSpPr>
            <p:cNvPr id="116" name="文本框 115"/>
            <p:cNvSpPr txBox="1"/>
            <p:nvPr/>
          </p:nvSpPr>
          <p:spPr>
            <a:xfrm>
              <a:off x="627" y="7469"/>
              <a:ext cx="2776" cy="14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latin typeface="楷体" panose="02010609060101010101" charset="-122"/>
                  <a:ea typeface="楷体" panose="02010609060101010101" charset="-122"/>
                </a:rPr>
                <a:t>以穿枋贯通柱列，构件简洁</a:t>
              </a:r>
              <a:r>
                <a:rPr lang="zh-CN" altLang="en-US" sz="1600" dirty="0" smtClean="0">
                  <a:latin typeface="楷体" panose="02010609060101010101" charset="-122"/>
                  <a:ea typeface="楷体" panose="02010609060101010101" charset="-122"/>
                </a:rPr>
                <a:t>实用</a:t>
              </a:r>
              <a:endParaRPr lang="zh-CN" altLang="en-US" sz="1600" dirty="0"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628" y="6943"/>
              <a:ext cx="3215" cy="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>
                  <a:solidFill>
                    <a:schemeClr val="tx1"/>
                  </a:solidFill>
                  <a:latin typeface="+mj-ea"/>
                  <a:ea typeface="+mj-ea"/>
                </a:rPr>
                <a:t>穿斗式结构</a:t>
              </a:r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4450779" y="18262598"/>
            <a:ext cx="1306987" cy="1128532"/>
            <a:chOff x="851" y="6943"/>
            <a:chExt cx="2953" cy="1986"/>
          </a:xfrm>
        </p:grpSpPr>
        <p:sp>
          <p:nvSpPr>
            <p:cNvPr id="119" name="文本框 118"/>
            <p:cNvSpPr txBox="1"/>
            <p:nvPr/>
          </p:nvSpPr>
          <p:spPr>
            <a:xfrm>
              <a:off x="851" y="7468"/>
              <a:ext cx="2953" cy="14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latin typeface="楷体" panose="02010609060101010101" charset="-122"/>
                  <a:ea typeface="楷体" panose="02010609060101010101" charset="-122"/>
                </a:rPr>
                <a:t>不用铁钉</a:t>
              </a:r>
              <a:r>
                <a:rPr lang="en-US" altLang="zh-CN" sz="1600" dirty="0">
                  <a:latin typeface="楷体" panose="02010609060101010101" charset="-122"/>
                  <a:ea typeface="楷体" panose="02010609060101010101" charset="-122"/>
                </a:rPr>
                <a:t>,</a:t>
              </a:r>
              <a:r>
                <a:rPr lang="zh-CN" altLang="en-US" sz="1600" dirty="0">
                  <a:latin typeface="楷体" panose="02010609060101010101" charset="-122"/>
                  <a:ea typeface="楷体" panose="02010609060101010101" charset="-122"/>
                </a:rPr>
                <a:t>榫卯咬合</a:t>
              </a:r>
              <a:r>
                <a:rPr lang="en-US" altLang="zh-CN" sz="1600" dirty="0">
                  <a:latin typeface="楷体" panose="02010609060101010101" charset="-122"/>
                  <a:ea typeface="楷体" panose="02010609060101010101" charset="-122"/>
                </a:rPr>
                <a:t>,</a:t>
              </a:r>
              <a:r>
                <a:rPr lang="zh-CN" altLang="en-US" sz="1600" dirty="0">
                  <a:latin typeface="楷体" panose="02010609060101010101" charset="-122"/>
                  <a:ea typeface="楷体" panose="02010609060101010101" charset="-122"/>
                </a:rPr>
                <a:t>结构巩固</a:t>
              </a:r>
              <a:r>
                <a:rPr lang="zh-CN" altLang="en-US" sz="1600" dirty="0" smtClean="0">
                  <a:latin typeface="楷体" panose="02010609060101010101" charset="-122"/>
                  <a:ea typeface="楷体" panose="02010609060101010101" charset="-122"/>
                </a:rPr>
                <a:t>耐用</a:t>
              </a:r>
              <a:endParaRPr lang="zh-CN" altLang="en-US" sz="1600" dirty="0"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120" name="文本框 119"/>
            <p:cNvSpPr txBox="1"/>
            <p:nvPr/>
          </p:nvSpPr>
          <p:spPr>
            <a:xfrm>
              <a:off x="1123" y="6943"/>
              <a:ext cx="2591" cy="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>
                  <a:solidFill>
                    <a:schemeClr val="tx1"/>
                  </a:solidFill>
                  <a:latin typeface="+mj-ea"/>
                  <a:ea typeface="+mj-ea"/>
                </a:rPr>
                <a:t>榫卯连接</a:t>
              </a:r>
            </a:p>
          </p:txBody>
        </p:sp>
      </p:grpSp>
      <p:grpSp>
        <p:nvGrpSpPr>
          <p:cNvPr id="121" name="组合 120"/>
          <p:cNvGrpSpPr/>
          <p:nvPr/>
        </p:nvGrpSpPr>
        <p:grpSpPr>
          <a:xfrm>
            <a:off x="5923477" y="18262598"/>
            <a:ext cx="1254761" cy="1106370"/>
            <a:chOff x="748" y="7105"/>
            <a:chExt cx="2835" cy="1947"/>
          </a:xfrm>
        </p:grpSpPr>
        <p:sp>
          <p:nvSpPr>
            <p:cNvPr id="122" name="文本框 121"/>
            <p:cNvSpPr txBox="1"/>
            <p:nvPr/>
          </p:nvSpPr>
          <p:spPr>
            <a:xfrm>
              <a:off x="748" y="7591"/>
              <a:ext cx="2717" cy="14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latin typeface="楷体" panose="02010609060101010101" charset="-122"/>
                  <a:ea typeface="楷体" panose="02010609060101010101" charset="-122"/>
                </a:rPr>
                <a:t>梁与柱相互咬合，分散</a:t>
              </a:r>
              <a:r>
                <a:rPr lang="zh-CN" altLang="en-US" sz="1600" dirty="0" smtClean="0">
                  <a:latin typeface="楷体" panose="02010609060101010101" charset="-122"/>
                  <a:ea typeface="楷体" panose="02010609060101010101" charset="-122"/>
                </a:rPr>
                <a:t>荷载</a:t>
              </a:r>
              <a:endParaRPr lang="zh-CN" altLang="en-US" sz="1600" dirty="0"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123" name="文本框 122"/>
            <p:cNvSpPr txBox="1"/>
            <p:nvPr/>
          </p:nvSpPr>
          <p:spPr>
            <a:xfrm>
              <a:off x="992" y="7105"/>
              <a:ext cx="2591" cy="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>
                  <a:solidFill>
                    <a:schemeClr val="tx1"/>
                  </a:solidFill>
                  <a:latin typeface="+mj-ea"/>
                  <a:ea typeface="+mj-ea"/>
                </a:rPr>
                <a:t>梁柱节点</a:t>
              </a:r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7244504" y="18262598"/>
            <a:ext cx="1273793" cy="1105802"/>
            <a:chOff x="562" y="6943"/>
            <a:chExt cx="2878" cy="1946"/>
          </a:xfrm>
        </p:grpSpPr>
        <p:sp>
          <p:nvSpPr>
            <p:cNvPr id="125" name="文本框 124"/>
            <p:cNvSpPr txBox="1"/>
            <p:nvPr/>
          </p:nvSpPr>
          <p:spPr>
            <a:xfrm>
              <a:off x="562" y="7428"/>
              <a:ext cx="2878" cy="14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latin typeface="楷体" panose="02010609060101010101" charset="-122"/>
                  <a:ea typeface="楷体" panose="02010609060101010101" charset="-122"/>
                </a:rPr>
                <a:t>转角处构件咬合，增强</a:t>
              </a:r>
              <a:r>
                <a:rPr lang="zh-CN" altLang="en-US" sz="1600" dirty="0" smtClean="0">
                  <a:latin typeface="楷体" panose="02010609060101010101" charset="-122"/>
                  <a:ea typeface="楷体" panose="02010609060101010101" charset="-122"/>
                </a:rPr>
                <a:t>整体性</a:t>
              </a:r>
              <a:endParaRPr lang="zh-CN" altLang="en-US" sz="1600" dirty="0">
                <a:latin typeface="楷体" panose="02010609060101010101" charset="-122"/>
                <a:ea typeface="楷体" panose="02010609060101010101" charset="-122"/>
              </a:endParaRPr>
            </a:p>
          </p:txBody>
        </p:sp>
        <p:sp>
          <p:nvSpPr>
            <p:cNvPr id="126" name="文本框 125"/>
            <p:cNvSpPr txBox="1"/>
            <p:nvPr/>
          </p:nvSpPr>
          <p:spPr>
            <a:xfrm>
              <a:off x="810" y="6943"/>
              <a:ext cx="2591" cy="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b="1">
                  <a:solidFill>
                    <a:schemeClr val="tx1"/>
                  </a:solidFill>
                  <a:latin typeface="+mj-ea"/>
                  <a:ea typeface="+mj-ea"/>
                </a:rPr>
                <a:t>角部连接</a:t>
              </a:r>
            </a:p>
          </p:txBody>
        </p:sp>
      </p:grpSp>
      <p:sp>
        <p:nvSpPr>
          <p:cNvPr id="128" name="文本框 127"/>
          <p:cNvSpPr txBox="1"/>
          <p:nvPr/>
        </p:nvSpPr>
        <p:spPr>
          <a:xfrm>
            <a:off x="8999855" y="16818609"/>
            <a:ext cx="18014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/>
              <a:t>柔性连接</a:t>
            </a:r>
          </a:p>
        </p:txBody>
      </p:sp>
      <p:sp>
        <p:nvSpPr>
          <p:cNvPr id="129" name="文本框 128"/>
          <p:cNvSpPr txBox="1"/>
          <p:nvPr/>
        </p:nvSpPr>
        <p:spPr>
          <a:xfrm>
            <a:off x="8999855" y="17160239"/>
            <a:ext cx="20548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榫卯连接允许微小变形，耗散地震能量</a:t>
            </a:r>
          </a:p>
        </p:txBody>
      </p:sp>
      <p:sp>
        <p:nvSpPr>
          <p:cNvPr id="130" name="文本框 129"/>
          <p:cNvSpPr txBox="1"/>
          <p:nvPr/>
        </p:nvSpPr>
        <p:spPr>
          <a:xfrm>
            <a:off x="10907395" y="16818609"/>
            <a:ext cx="12814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/>
              <a:t>整体协调</a:t>
            </a:r>
          </a:p>
        </p:txBody>
      </p:sp>
      <p:sp>
        <p:nvSpPr>
          <p:cNvPr id="131" name="文本框 130"/>
          <p:cNvSpPr txBox="1"/>
          <p:nvPr/>
        </p:nvSpPr>
        <p:spPr>
          <a:xfrm>
            <a:off x="10907395" y="17160239"/>
            <a:ext cx="18338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结构整体协同工作，提高抗震性能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19430" y="1889760"/>
            <a:ext cx="57473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吊脚楼依山而建，因地制宜，顺应自然，形成了独特的山地生活方式，空间分布与日常活动紧密结合，体现了人与自然和谐共生的智慧</a:t>
            </a: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178435" y="7392035"/>
            <a:ext cx="1630680" cy="1419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家庭成员生活起居的主要空间，包括火塘、卧室和会客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</a:rPr>
              <a:t>区域</a:t>
            </a: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78435" y="10734673"/>
            <a:ext cx="1630680" cy="1141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用于饲养牲畜或堆放农具、柴火，保持上层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</a:rPr>
              <a:t>干燥</a:t>
            </a: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62865" y="10327639"/>
            <a:ext cx="18757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314F2D"/>
                </a:solidFill>
              </a:rPr>
              <a:t>一层（架空层）</a:t>
            </a: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62865" y="6972300"/>
            <a:ext cx="18757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314F2D"/>
                </a:solidFill>
              </a:rPr>
              <a:t>二层（居住层）</a:t>
            </a: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64465" y="4348480"/>
            <a:ext cx="1644650" cy="1154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/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用于储存粮食或晾晒农作物，通风两年好，保持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</a:rPr>
              <a:t>干燥</a:t>
            </a: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62865" y="3950970"/>
            <a:ext cx="18757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314F2D"/>
                </a:solidFill>
              </a:rPr>
              <a:t>三层（储藏层）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074920" y="13933804"/>
            <a:ext cx="1488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空间优势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0196830" y="3426460"/>
            <a:ext cx="17068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bg1"/>
                </a:solidFill>
              </a:rPr>
              <a:t>生活特色</a:t>
            </a:r>
          </a:p>
        </p:txBody>
      </p:sp>
      <p:sp>
        <p:nvSpPr>
          <p:cNvPr id="22" name="文本框 21"/>
          <p:cNvSpPr txBox="1"/>
          <p:nvPr>
            <p:custDataLst>
              <p:tags r:id="rId7"/>
            </p:custDataLst>
          </p:nvPr>
        </p:nvSpPr>
        <p:spPr>
          <a:xfrm>
            <a:off x="9427845" y="4046220"/>
            <a:ext cx="1881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火塘取暖与烹饪</a:t>
            </a:r>
          </a:p>
        </p:txBody>
      </p:sp>
      <p:sp>
        <p:nvSpPr>
          <p:cNvPr id="23" name="文本框 22"/>
          <p:cNvSpPr txBox="1"/>
          <p:nvPr>
            <p:custDataLst>
              <p:tags r:id="rId8"/>
            </p:custDataLst>
          </p:nvPr>
        </p:nvSpPr>
        <p:spPr>
          <a:xfrm>
            <a:off x="9427845" y="4389755"/>
            <a:ext cx="1709420" cy="12026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火塘位于居住层中央，既用于取暖，又用于烹饪，是家庭生活的核心</a:t>
            </a:r>
          </a:p>
        </p:txBody>
      </p:sp>
      <p:sp>
        <p:nvSpPr>
          <p:cNvPr id="25" name="文本框 24"/>
          <p:cNvSpPr txBox="1"/>
          <p:nvPr>
            <p:custDataLst>
              <p:tags r:id="rId9"/>
            </p:custDataLst>
          </p:nvPr>
        </p:nvSpPr>
        <p:spPr>
          <a:xfrm>
            <a:off x="9450705" y="6111240"/>
            <a:ext cx="1879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卧室分区有序</a:t>
            </a:r>
          </a:p>
        </p:txBody>
      </p:sp>
      <p:sp>
        <p:nvSpPr>
          <p:cNvPr id="26" name="文本框 25"/>
          <p:cNvSpPr txBox="1"/>
          <p:nvPr>
            <p:custDataLst>
              <p:tags r:id="rId10"/>
            </p:custDataLst>
          </p:nvPr>
        </p:nvSpPr>
        <p:spPr>
          <a:xfrm>
            <a:off x="9450705" y="6475730"/>
            <a:ext cx="161671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卧室一般靠墙布置，注重隐私与安静，按长幼有序分配居住空间</a:t>
            </a:r>
          </a:p>
        </p:txBody>
      </p:sp>
      <p:sp>
        <p:nvSpPr>
          <p:cNvPr id="27" name="文本框 26"/>
          <p:cNvSpPr txBox="1"/>
          <p:nvPr>
            <p:custDataLst>
              <p:tags r:id="rId11"/>
            </p:custDataLst>
          </p:nvPr>
        </p:nvSpPr>
        <p:spPr>
          <a:xfrm>
            <a:off x="9450705" y="8018144"/>
            <a:ext cx="203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会客与家庭活动</a:t>
            </a:r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9450705" y="8357234"/>
            <a:ext cx="181229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会客区设于堂屋，接待客人；家庭日常活动如聊天、做手工、织布等在此进行</a:t>
            </a:r>
          </a:p>
        </p:txBody>
      </p:sp>
      <p:sp>
        <p:nvSpPr>
          <p:cNvPr id="29" name="文本框 28"/>
          <p:cNvSpPr txBox="1"/>
          <p:nvPr>
            <p:custDataLst>
              <p:tags r:id="rId13"/>
            </p:custDataLst>
          </p:nvPr>
        </p:nvSpPr>
        <p:spPr>
          <a:xfrm>
            <a:off x="9450705" y="9823449"/>
            <a:ext cx="1927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粮食与物品储存</a:t>
            </a:r>
          </a:p>
        </p:txBody>
      </p:sp>
      <p:sp>
        <p:nvSpPr>
          <p:cNvPr id="30" name="文本框 29"/>
          <p:cNvSpPr txBox="1"/>
          <p:nvPr>
            <p:custDataLst>
              <p:tags r:id="rId14"/>
            </p:custDataLst>
          </p:nvPr>
        </p:nvSpPr>
        <p:spPr>
          <a:xfrm>
            <a:off x="9450705" y="10141584"/>
            <a:ext cx="178943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利用阁楼层储存粮食、干货、腊肉等物品，通风防潮，延长保存时间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9450705" y="11532869"/>
            <a:ext cx="2112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晾晒衣物与农作物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9450705" y="11859894"/>
            <a:ext cx="184721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利用屋檐、晒架等空间晾晒衣物、玉米、辣椒等农作物。充分利用自然通风和阳光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9450705" y="13192759"/>
            <a:ext cx="2412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就地取材与自给自足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9450705" y="13487398"/>
            <a:ext cx="202057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楷体" panose="02010609060101010101" charset="-122"/>
                <a:ea typeface="楷体" panose="02010609060101010101" charset="-122"/>
              </a:rPr>
              <a:t>就地取材建造房屋，种植蔬菜、养殖家畜、制作工具，形成自给自足的山地生活体系</a:t>
            </a:r>
            <a:endParaRPr lang="en-US" altLang="zh-CN" sz="16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097280" y="14651989"/>
            <a:ext cx="13627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233720"/>
                </a:solidFill>
              </a:rPr>
              <a:t>通风良好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3302635" y="14679929"/>
            <a:ext cx="12928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233720"/>
                </a:solidFill>
              </a:rPr>
              <a:t>防潮防虫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5530850" y="14679929"/>
            <a:ext cx="15582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233720"/>
                </a:solidFill>
              </a:rPr>
              <a:t>与自然融合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8197850" y="14679929"/>
            <a:ext cx="14662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233720"/>
                </a:solidFill>
              </a:rPr>
              <a:t>安全稳固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10714990" y="14679929"/>
            <a:ext cx="14547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233720"/>
                </a:solidFill>
              </a:rPr>
              <a:t>空间灵活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1143635" y="15126969"/>
            <a:ext cx="1189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10714990" y="15045689"/>
            <a:ext cx="21120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可根据家庭需求灵活调整布局，满足多样化生活需要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8197850" y="15045689"/>
            <a:ext cx="168465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木结构柔韧性强，抗震性能好，适应山地多雨的气候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5530850" y="15045689"/>
            <a:ext cx="191579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储石傍水，顺应地形，减少对环境的破坏，实现人与自然和谐共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生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302635" y="15045689"/>
            <a:ext cx="133921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隔离地面湿气，减少虫害侵扰，保持居住环境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1087655" y="15045689"/>
            <a:ext cx="131635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楷体" panose="02010609060101010101" charset="-122"/>
                <a:ea typeface="楷体" panose="02010609060101010101" charset="-122"/>
              </a:rPr>
              <a:t>架空结构促进空间流通，保持室内清新舒适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4810760" y="17300574"/>
            <a:ext cx="4028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233720"/>
                </a:solidFill>
              </a:rPr>
              <a:t>生活智慧的传承与价值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1266190" y="17785714"/>
            <a:ext cx="132842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233720"/>
                </a:solidFill>
              </a:rPr>
              <a:t>顺应自然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3667760" y="17785714"/>
            <a:ext cx="13271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233720"/>
                </a:solidFill>
              </a:rPr>
              <a:t>家庭和谐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6011545" y="17785714"/>
            <a:ext cx="14433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233720"/>
                </a:solidFill>
              </a:rPr>
              <a:t>勤俭持家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8573770" y="17785714"/>
            <a:ext cx="13627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233720"/>
                </a:solidFill>
              </a:rPr>
              <a:t>手工传承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11195685" y="17785714"/>
            <a:ext cx="15582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233720"/>
                </a:solidFill>
              </a:rPr>
              <a:t>文化延续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1254125" y="18155284"/>
            <a:ext cx="15817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因地制宜，顺应山地环境，体现古人智慧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3667760" y="18155284"/>
            <a:ext cx="15354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空间分布促进家人互动，增强家庭凝聚力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6011545" y="18155284"/>
            <a:ext cx="164020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储存与利用自然资源，体现勤俭节约的生活理念</a:t>
            </a:r>
          </a:p>
        </p:txBody>
      </p:sp>
      <p:sp>
        <p:nvSpPr>
          <p:cNvPr id="70" name="文本框 69"/>
          <p:cNvSpPr txBox="1"/>
          <p:nvPr/>
        </p:nvSpPr>
        <p:spPr>
          <a:xfrm>
            <a:off x="8573770" y="18155284"/>
            <a:ext cx="17310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织布、木工等技艺世代相传，延续文化传统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11242040" y="18155284"/>
            <a:ext cx="16389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独特的生活方式承载者民族文化与历史记忆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17930" y="8981440"/>
            <a:ext cx="162560" cy="243840"/>
          </a:xfrm>
          <a:prstGeom prst="rect">
            <a:avLst/>
          </a:prstGeom>
          <a:solidFill>
            <a:srgbClr val="F5E9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502775" y="3737610"/>
            <a:ext cx="1803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生产与生活方式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257665" y="4126865"/>
            <a:ext cx="154178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依山而居，农耕为主，监管林业、渔猎、手工业，形成了自给自足的生产生活</a:t>
            </a:r>
            <a:r>
              <a:rPr lang="zh-CN" altLang="en-US" sz="1400" dirty="0" smtClean="0">
                <a:latin typeface="楷体" panose="02010609060101010101" charset="-122"/>
                <a:ea typeface="楷体" panose="02010609060101010101" charset="-122"/>
              </a:rPr>
              <a:t>体系</a:t>
            </a:r>
            <a:endParaRPr lang="zh-CN" altLang="en-US" sz="14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502775" y="5682615"/>
            <a:ext cx="1803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民间音乐与舞蹈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502775" y="7717790"/>
            <a:ext cx="1803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服饰纹样寓意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502775" y="9483089"/>
            <a:ext cx="1803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民俗节庆活动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502775" y="11248389"/>
            <a:ext cx="1803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饮食文化特色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502775" y="12794614"/>
            <a:ext cx="1803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口传文学与传说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384665" y="6050915"/>
            <a:ext cx="160147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芦笙、铜鼓为代表的乐器，配合苗族舞蹈，表达情感、传递文化、祈福</a:t>
            </a:r>
            <a:r>
              <a:rPr lang="zh-CN" altLang="en-US" sz="1400" dirty="0" smtClean="0">
                <a:latin typeface="楷体" panose="02010609060101010101" charset="-122"/>
                <a:ea typeface="楷体" panose="02010609060101010101" charset="-122"/>
              </a:rPr>
              <a:t>庆典</a:t>
            </a:r>
            <a:endParaRPr lang="zh-CN" altLang="en-US" sz="14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9257665" y="8086089"/>
            <a:ext cx="17278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服饰多以刺绣、蜡染、银饰点缀，纹样象征自然、祖先、吉祥与</a:t>
            </a:r>
            <a:r>
              <a:rPr lang="zh-CN" altLang="en-US" sz="1400" dirty="0" smtClean="0">
                <a:latin typeface="楷体" panose="02010609060101010101" charset="-122"/>
                <a:ea typeface="楷体" panose="02010609060101010101" charset="-122"/>
              </a:rPr>
              <a:t>守护</a:t>
            </a:r>
            <a:endParaRPr lang="zh-CN" altLang="en-US" sz="14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257665" y="9851389"/>
            <a:ext cx="154241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鼓藏节、苗年等节庆，羁绊祭祀、歌舞、竞技等活动，增强族群</a:t>
            </a:r>
            <a:r>
              <a:rPr lang="zh-CN" altLang="en-US" sz="1400" dirty="0" smtClean="0">
                <a:latin typeface="楷体" panose="02010609060101010101" charset="-122"/>
                <a:ea typeface="楷体" panose="02010609060101010101" charset="-122"/>
              </a:rPr>
              <a:t>凝聚力</a:t>
            </a:r>
            <a:endParaRPr lang="zh-CN" altLang="en-US" sz="14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57665" y="11616689"/>
            <a:ext cx="17278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以酸辣为主，善用野菜、腊肉、糯米等食材，形成独特的饮食</a:t>
            </a:r>
            <a:r>
              <a:rPr lang="zh-CN" altLang="en-US" sz="1400" dirty="0" smtClean="0">
                <a:latin typeface="楷体" panose="02010609060101010101" charset="-122"/>
                <a:ea typeface="楷体" panose="02010609060101010101" charset="-122"/>
              </a:rPr>
              <a:t>风味</a:t>
            </a:r>
            <a:endParaRPr lang="zh-CN" altLang="en-US" sz="14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257665" y="13162914"/>
            <a:ext cx="154241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苗族飞歌、古歌、传说丰富，代代相传，承载历史、道德与</a:t>
            </a:r>
            <a:r>
              <a:rPr lang="zh-CN" altLang="en-US" sz="1400" dirty="0" smtClean="0">
                <a:latin typeface="楷体" panose="02010609060101010101" charset="-122"/>
                <a:ea typeface="楷体" panose="02010609060101010101" charset="-122"/>
              </a:rPr>
              <a:t>智慧</a:t>
            </a:r>
            <a:endParaRPr lang="zh-CN" altLang="en-US" sz="14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245100" y="14597379"/>
            <a:ext cx="150114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dist"/>
            <a:r>
              <a:rPr lang="zh-CN" altLang="en-US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文化元素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89890" y="16874489"/>
            <a:ext cx="168783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dist"/>
            <a:r>
              <a:rPr lang="zh-CN" altLang="en-US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文化传承脉络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89890" y="18632169"/>
            <a:ext cx="135636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algn="dist"/>
            <a:r>
              <a:rPr lang="zh-CN" altLang="en-US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文化载体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658495" y="15074899"/>
            <a:ext cx="163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民族语言文字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2933065" y="15074899"/>
            <a:ext cx="163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歌谣与传说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4933580" y="15074899"/>
            <a:ext cx="182308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700" dirty="0"/>
              <a:t>农耕与村寨景观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7182350" y="15074899"/>
            <a:ext cx="163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图案与织锦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9207531" y="15073629"/>
            <a:ext cx="1903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崇拜</a:t>
            </a:r>
            <a:r>
              <a:rPr lang="zh-CN" altLang="en-US" dirty="0"/>
              <a:t>与信仰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11267675" y="15074899"/>
            <a:ext cx="1630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木构建筑智慧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2413000" y="19230974"/>
            <a:ext cx="1010285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风雨桥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3923030" y="19231609"/>
            <a:ext cx="1010285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芦笙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217170" y="19231609"/>
            <a:ext cx="1010285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鼓楼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</a:rPr>
              <a:t> 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5433060" y="19231609"/>
            <a:ext cx="1010285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族群服饰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6943090" y="19230974"/>
            <a:ext cx="1010285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织锦刺绣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8764270" y="19231609"/>
            <a:ext cx="1010285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银饰工艺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10090150" y="19231609"/>
            <a:ext cx="1010285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竹木器具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1560175" y="19230974"/>
            <a:ext cx="1010285" cy="2762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榫卯结构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6508115" y="10081894"/>
            <a:ext cx="1080770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sz="1200" dirty="0"/>
              <a:t>空间组织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4763983" y="4175968"/>
            <a:ext cx="1080770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sz="1200" dirty="0"/>
              <a:t>建筑形制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2206628" y="7602220"/>
            <a:ext cx="1080770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sz="1200" dirty="0"/>
              <a:t>功能用途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6194849" y="7585288"/>
            <a:ext cx="1080770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sz="1200" dirty="0"/>
              <a:t>环境适应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2173605" y="9978389"/>
            <a:ext cx="1080770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sz="1200" dirty="0"/>
              <a:t>结构系统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3459274" y="9518642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尊重自然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4404355" y="9514415"/>
            <a:ext cx="984885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因地制宜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5215250" y="9502583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可持续发展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4350385" y="10587989"/>
            <a:ext cx="1080770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sz="1200" dirty="0"/>
              <a:t>装饰艺术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3231197" y="4110567"/>
            <a:ext cx="1080770" cy="2769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sz="1200" dirty="0"/>
              <a:t>人文文化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5626527" y="2790617"/>
            <a:ext cx="79502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总体特征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5883700" y="3567643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空间布局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5996094" y="4369436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屋顶形态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6046475" y="5147524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结构工艺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7013580" y="6482084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地形适应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7155824" y="7331394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气候适应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7030407" y="8100381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防洪防潮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6839590" y="8818248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材料利用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2175510" y="3002915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历史记忆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1791970" y="3895725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节庆习俗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1715135" y="4652645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信仰崇拜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2170430" y="5494020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礼仪交往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1438910" y="6503670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居住功能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1236345" y="7400290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生产功能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1290955" y="8187689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防御功能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1713865" y="8792844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生态功能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264369" y="10596668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支撑体系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982345" y="10676889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连接体系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1765300" y="10683239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围护体系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2561590" y="10683239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基础体系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3496945" y="11304269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木雕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4130675" y="11301945"/>
            <a:ext cx="1056852" cy="2616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彩绘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4800177" y="11294437"/>
            <a:ext cx="1080770" cy="2616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1050" b="1" dirty="0" smtClean="0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银饰</a:t>
            </a:r>
            <a:endParaRPr lang="zh-CN" altLang="en-US" sz="1050" b="1" dirty="0"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5447665" y="11290299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 smtClean="0"/>
              <a:t>织锦</a:t>
            </a:r>
            <a:endParaRPr lang="zh-CN" altLang="en-US" dirty="0"/>
          </a:p>
        </p:txBody>
      </p:sp>
      <p:sp>
        <p:nvSpPr>
          <p:cNvPr id="71" name="文本框 70"/>
          <p:cNvSpPr txBox="1"/>
          <p:nvPr/>
        </p:nvSpPr>
        <p:spPr>
          <a:xfrm>
            <a:off x="6109024" y="10908664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垂直分层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6870071" y="10913428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水平布局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7563176" y="10908664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动静组织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8206105" y="10894694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公共空间</a:t>
            </a:r>
          </a:p>
        </p:txBody>
      </p:sp>
      <p:sp>
        <p:nvSpPr>
          <p:cNvPr id="75" name="文本框 74"/>
          <p:cNvSpPr txBox="1"/>
          <p:nvPr/>
        </p:nvSpPr>
        <p:spPr>
          <a:xfrm>
            <a:off x="3230880" y="12552044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价值意义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6915150" y="12527914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保护与传承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4384675" y="8803004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和谐共生</a:t>
            </a:r>
          </a:p>
        </p:txBody>
      </p:sp>
      <p:sp>
        <p:nvSpPr>
          <p:cNvPr id="78" name="文本框 77"/>
          <p:cNvSpPr txBox="1"/>
          <p:nvPr/>
        </p:nvSpPr>
        <p:spPr>
          <a:xfrm>
            <a:off x="1964055" y="12934949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实用价值</a:t>
            </a:r>
          </a:p>
        </p:txBody>
      </p:sp>
      <p:sp>
        <p:nvSpPr>
          <p:cNvPr id="79" name="文本框 78"/>
          <p:cNvSpPr txBox="1"/>
          <p:nvPr/>
        </p:nvSpPr>
        <p:spPr>
          <a:xfrm>
            <a:off x="2817495" y="12945109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文化价值</a:t>
            </a:r>
          </a:p>
        </p:txBody>
      </p:sp>
      <p:sp>
        <p:nvSpPr>
          <p:cNvPr id="80" name="文本框 79"/>
          <p:cNvSpPr txBox="1"/>
          <p:nvPr/>
        </p:nvSpPr>
        <p:spPr>
          <a:xfrm>
            <a:off x="3641090" y="12943204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艺术价值</a:t>
            </a:r>
          </a:p>
        </p:txBody>
      </p:sp>
      <p:sp>
        <p:nvSpPr>
          <p:cNvPr id="81" name="文本框 80"/>
          <p:cNvSpPr txBox="1"/>
          <p:nvPr/>
        </p:nvSpPr>
        <p:spPr>
          <a:xfrm>
            <a:off x="4449445" y="12940029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人文文化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5335905" y="13047979"/>
            <a:ext cx="113411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传统艺术传承</a:t>
            </a:r>
          </a:p>
        </p:txBody>
      </p:sp>
      <p:sp>
        <p:nvSpPr>
          <p:cNvPr id="83" name="文本框 82"/>
          <p:cNvSpPr txBox="1"/>
          <p:nvPr/>
        </p:nvSpPr>
        <p:spPr>
          <a:xfrm>
            <a:off x="6415405" y="13047979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活化利用</a:t>
            </a:r>
          </a:p>
        </p:txBody>
      </p:sp>
      <p:sp>
        <p:nvSpPr>
          <p:cNvPr id="84" name="文本框 83"/>
          <p:cNvSpPr txBox="1"/>
          <p:nvPr/>
        </p:nvSpPr>
        <p:spPr>
          <a:xfrm>
            <a:off x="7257415" y="13047979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保护措施</a:t>
            </a:r>
          </a:p>
        </p:txBody>
      </p:sp>
      <p:sp>
        <p:nvSpPr>
          <p:cNvPr id="85" name="文本框 84"/>
          <p:cNvSpPr txBox="1"/>
          <p:nvPr/>
        </p:nvSpPr>
        <p:spPr>
          <a:xfrm>
            <a:off x="8009255" y="13047979"/>
            <a:ext cx="1080770" cy="2539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>
            <a:defPPr>
              <a:defRPr lang="zh-CN"/>
            </a:defPPr>
            <a:lvl1pPr>
              <a:defRPr sz="105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defRPr>
            </a:lvl1pPr>
          </a:lstStyle>
          <a:p>
            <a:r>
              <a:rPr lang="zh-CN" altLang="en-US" dirty="0"/>
              <a:t>可持续发展</a:t>
            </a:r>
          </a:p>
        </p:txBody>
      </p:sp>
      <p:sp>
        <p:nvSpPr>
          <p:cNvPr id="86" name="文本框 85"/>
          <p:cNvSpPr txBox="1"/>
          <p:nvPr/>
        </p:nvSpPr>
        <p:spPr>
          <a:xfrm>
            <a:off x="1053465" y="2834005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族群迁徙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1054735" y="3100705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历史传承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1056005" y="3367405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口述故事</a:t>
            </a:r>
          </a:p>
        </p:txBody>
      </p:sp>
      <p:sp>
        <p:nvSpPr>
          <p:cNvPr id="90" name="文本框 89"/>
          <p:cNvSpPr txBox="1"/>
          <p:nvPr/>
        </p:nvSpPr>
        <p:spPr>
          <a:xfrm>
            <a:off x="314960" y="370205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苗年</a:t>
            </a:r>
            <a:r>
              <a:rPr lang="en-US" altLang="zh-CN" sz="1400">
                <a:latin typeface="楷体" panose="02010609060101010101" charset="-122"/>
                <a:ea typeface="楷体" panose="02010609060101010101" charset="-122"/>
              </a:rPr>
              <a:t>/</a:t>
            </a:r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吃新节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497840" y="396875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四月八</a:t>
            </a:r>
          </a:p>
        </p:txBody>
      </p:sp>
      <p:sp>
        <p:nvSpPr>
          <p:cNvPr id="92" name="文本框 91"/>
          <p:cNvSpPr txBox="1"/>
          <p:nvPr/>
        </p:nvSpPr>
        <p:spPr>
          <a:xfrm>
            <a:off x="499110" y="422148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鼓藏节</a:t>
            </a:r>
          </a:p>
        </p:txBody>
      </p:sp>
      <p:sp>
        <p:nvSpPr>
          <p:cNvPr id="93" name="文本框 92"/>
          <p:cNvSpPr txBox="1"/>
          <p:nvPr/>
        </p:nvSpPr>
        <p:spPr>
          <a:xfrm>
            <a:off x="472440" y="455803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自然崇拜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459740" y="479679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祖先崇拜</a:t>
            </a:r>
          </a:p>
        </p:txBody>
      </p:sp>
      <p:sp>
        <p:nvSpPr>
          <p:cNvPr id="95" name="文本框 94"/>
          <p:cNvSpPr txBox="1"/>
          <p:nvPr/>
        </p:nvSpPr>
        <p:spPr>
          <a:xfrm>
            <a:off x="447040" y="507746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祭祀仪式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937260" y="534416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  <a:sym typeface="+mn-ea"/>
              </a:rPr>
              <a:t>敬酒礼仪</a:t>
            </a:r>
            <a:endParaRPr lang="zh-CN" altLang="en-US" sz="14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966470" y="561086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  <a:sym typeface="+mn-ea"/>
              </a:rPr>
              <a:t>待客之道</a:t>
            </a:r>
            <a:endParaRPr lang="zh-CN" altLang="en-US" sz="14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953770" y="586359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  <a:sym typeface="+mn-ea"/>
              </a:rPr>
              <a:t>邻里互动</a:t>
            </a:r>
            <a:endParaRPr lang="zh-CN" altLang="en-US" sz="14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284480" y="638175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家庭生活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299720" y="663448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火墙取暖</a:t>
            </a:r>
          </a:p>
        </p:txBody>
      </p:sp>
      <p:sp>
        <p:nvSpPr>
          <p:cNvPr id="101" name="文本框 100"/>
          <p:cNvSpPr txBox="1"/>
          <p:nvPr/>
        </p:nvSpPr>
        <p:spPr>
          <a:xfrm>
            <a:off x="287020" y="688721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睡眠起居</a:t>
            </a:r>
          </a:p>
        </p:txBody>
      </p:sp>
      <p:sp>
        <p:nvSpPr>
          <p:cNvPr id="102" name="文本框 101"/>
          <p:cNvSpPr txBox="1"/>
          <p:nvPr/>
        </p:nvSpPr>
        <p:spPr>
          <a:xfrm>
            <a:off x="148590" y="723773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下层圈养</a:t>
            </a:r>
          </a:p>
        </p:txBody>
      </p:sp>
      <p:sp>
        <p:nvSpPr>
          <p:cNvPr id="103" name="文本框 102"/>
          <p:cNvSpPr txBox="1"/>
          <p:nvPr/>
        </p:nvSpPr>
        <p:spPr>
          <a:xfrm>
            <a:off x="149860" y="749046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堆放杂物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151130" y="774319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加工农产品</a:t>
            </a:r>
          </a:p>
        </p:txBody>
      </p:sp>
      <p:sp>
        <p:nvSpPr>
          <p:cNvPr id="105" name="文本框 104"/>
          <p:cNvSpPr txBox="1"/>
          <p:nvPr/>
        </p:nvSpPr>
        <p:spPr>
          <a:xfrm>
            <a:off x="194310" y="8107679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高架防洪</a:t>
            </a:r>
          </a:p>
        </p:txBody>
      </p:sp>
      <p:sp>
        <p:nvSpPr>
          <p:cNvPr id="106" name="文本框 105"/>
          <p:cNvSpPr txBox="1"/>
          <p:nvPr/>
        </p:nvSpPr>
        <p:spPr>
          <a:xfrm>
            <a:off x="223520" y="8360409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易守难攻</a:t>
            </a:r>
          </a:p>
        </p:txBody>
      </p:sp>
      <p:sp>
        <p:nvSpPr>
          <p:cNvPr id="107" name="文本框 106"/>
          <p:cNvSpPr txBox="1"/>
          <p:nvPr/>
        </p:nvSpPr>
        <p:spPr>
          <a:xfrm>
            <a:off x="499110" y="8673464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防风防潮</a:t>
            </a:r>
            <a:endParaRPr lang="en-US" altLang="zh-CN" sz="14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194310" y="8980169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适应山地气候</a:t>
            </a:r>
          </a:p>
        </p:txBody>
      </p:sp>
      <p:sp>
        <p:nvSpPr>
          <p:cNvPr id="109" name="文本框 108"/>
          <p:cNvSpPr txBox="1"/>
          <p:nvPr/>
        </p:nvSpPr>
        <p:spPr>
          <a:xfrm>
            <a:off x="227330" y="10866754"/>
            <a:ext cx="72644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吊脚柱</a:t>
            </a:r>
          </a:p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穿枋</a:t>
            </a:r>
          </a:p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挑梁</a:t>
            </a:r>
          </a:p>
        </p:txBody>
      </p:sp>
      <p:sp>
        <p:nvSpPr>
          <p:cNvPr id="110" name="文本框 109"/>
          <p:cNvSpPr txBox="1"/>
          <p:nvPr/>
        </p:nvSpPr>
        <p:spPr>
          <a:xfrm>
            <a:off x="989965" y="10908664"/>
            <a:ext cx="72644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榫卯结构、拉栓加固</a:t>
            </a:r>
          </a:p>
        </p:txBody>
      </p:sp>
      <p:sp>
        <p:nvSpPr>
          <p:cNvPr id="111" name="文本框 110"/>
          <p:cNvSpPr txBox="1"/>
          <p:nvPr/>
        </p:nvSpPr>
        <p:spPr>
          <a:xfrm>
            <a:off x="1787525" y="10909934"/>
            <a:ext cx="7264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木墙板</a:t>
            </a:r>
          </a:p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栏杆</a:t>
            </a:r>
          </a:p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吊脚楼梯</a:t>
            </a:r>
          </a:p>
        </p:txBody>
      </p:sp>
      <p:sp>
        <p:nvSpPr>
          <p:cNvPr id="112" name="文本框 111"/>
          <p:cNvSpPr txBox="1"/>
          <p:nvPr/>
        </p:nvSpPr>
        <p:spPr>
          <a:xfrm>
            <a:off x="2557145" y="10925174"/>
            <a:ext cx="72644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垫石、基础处理</a:t>
            </a:r>
          </a:p>
        </p:txBody>
      </p:sp>
      <p:sp>
        <p:nvSpPr>
          <p:cNvPr id="113" name="文本框 112"/>
          <p:cNvSpPr txBox="1"/>
          <p:nvPr/>
        </p:nvSpPr>
        <p:spPr>
          <a:xfrm>
            <a:off x="3185160" y="11555094"/>
            <a:ext cx="100457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门窗窗花、梁枋建筑、寓意吉祥</a:t>
            </a:r>
          </a:p>
        </p:txBody>
      </p:sp>
      <p:sp>
        <p:nvSpPr>
          <p:cNvPr id="114" name="文本框 113"/>
          <p:cNvSpPr txBox="1"/>
          <p:nvPr/>
        </p:nvSpPr>
        <p:spPr>
          <a:xfrm>
            <a:off x="4054475" y="11584304"/>
            <a:ext cx="72644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图腾纹样、吉祥寓意</a:t>
            </a:r>
          </a:p>
        </p:txBody>
      </p:sp>
      <p:sp>
        <p:nvSpPr>
          <p:cNvPr id="115" name="文本框 114"/>
          <p:cNvSpPr txBox="1"/>
          <p:nvPr/>
        </p:nvSpPr>
        <p:spPr>
          <a:xfrm>
            <a:off x="4712335" y="11599544"/>
            <a:ext cx="72644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驱邪祈福、身份象征</a:t>
            </a:r>
          </a:p>
        </p:txBody>
      </p:sp>
      <p:sp>
        <p:nvSpPr>
          <p:cNvPr id="116" name="文本框 115"/>
          <p:cNvSpPr txBox="1"/>
          <p:nvPr/>
        </p:nvSpPr>
        <p:spPr>
          <a:xfrm>
            <a:off x="5370195" y="11572874"/>
            <a:ext cx="72644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苗绣布艺、美化空间</a:t>
            </a:r>
          </a:p>
        </p:txBody>
      </p:sp>
      <p:sp>
        <p:nvSpPr>
          <p:cNvPr id="117" name="文本框 116"/>
          <p:cNvSpPr txBox="1"/>
          <p:nvPr/>
        </p:nvSpPr>
        <p:spPr>
          <a:xfrm>
            <a:off x="6167755" y="11182984"/>
            <a:ext cx="72644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上层生活区、下层功能区</a:t>
            </a:r>
          </a:p>
        </p:txBody>
      </p:sp>
      <p:sp>
        <p:nvSpPr>
          <p:cNvPr id="118" name="文本框 117"/>
          <p:cNvSpPr txBox="1"/>
          <p:nvPr/>
        </p:nvSpPr>
        <p:spPr>
          <a:xfrm>
            <a:off x="6867525" y="11184254"/>
            <a:ext cx="72644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中轴对称、庭院环绕</a:t>
            </a:r>
          </a:p>
        </p:txBody>
      </p:sp>
      <p:sp>
        <p:nvSpPr>
          <p:cNvPr id="119" name="文本框 118"/>
          <p:cNvSpPr txBox="1"/>
          <p:nvPr/>
        </p:nvSpPr>
        <p:spPr>
          <a:xfrm>
            <a:off x="7579995" y="11198224"/>
            <a:ext cx="72644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楼梯相连、动静分区</a:t>
            </a:r>
          </a:p>
        </p:txBody>
      </p:sp>
      <p:sp>
        <p:nvSpPr>
          <p:cNvPr id="120" name="文本框 119"/>
          <p:cNvSpPr txBox="1"/>
          <p:nvPr/>
        </p:nvSpPr>
        <p:spPr>
          <a:xfrm>
            <a:off x="8293735" y="11171554"/>
            <a:ext cx="7264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议事空间</a:t>
            </a:r>
          </a:p>
        </p:txBody>
      </p:sp>
      <p:sp>
        <p:nvSpPr>
          <p:cNvPr id="121" name="文本框 120"/>
          <p:cNvSpPr txBox="1"/>
          <p:nvPr/>
        </p:nvSpPr>
        <p:spPr>
          <a:xfrm>
            <a:off x="1924050" y="13162914"/>
            <a:ext cx="100457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适应环境、满足生活需求</a:t>
            </a:r>
          </a:p>
        </p:txBody>
      </p:sp>
      <p:sp>
        <p:nvSpPr>
          <p:cNvPr id="122" name="文本框 121"/>
          <p:cNvSpPr txBox="1"/>
          <p:nvPr/>
        </p:nvSpPr>
        <p:spPr>
          <a:xfrm>
            <a:off x="2755265" y="13178154"/>
            <a:ext cx="101282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承载历史、传承民族文化</a:t>
            </a:r>
          </a:p>
        </p:txBody>
      </p:sp>
      <p:sp>
        <p:nvSpPr>
          <p:cNvPr id="123" name="文本框 122"/>
          <p:cNvSpPr txBox="1"/>
          <p:nvPr/>
        </p:nvSpPr>
        <p:spPr>
          <a:xfrm>
            <a:off x="3589020" y="13165454"/>
            <a:ext cx="100457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工艺精湛</a:t>
            </a:r>
          </a:p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独具审美特色</a:t>
            </a:r>
          </a:p>
        </p:txBody>
      </p:sp>
      <p:sp>
        <p:nvSpPr>
          <p:cNvPr id="124" name="文本框 123"/>
          <p:cNvSpPr txBox="1"/>
          <p:nvPr/>
        </p:nvSpPr>
        <p:spPr>
          <a:xfrm>
            <a:off x="4428490" y="13166724"/>
            <a:ext cx="1004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低碳环保</a:t>
            </a:r>
            <a:r>
              <a:rPr lang="zh-CN" altLang="en-US" sz="1400" dirty="0" smtClean="0">
                <a:latin typeface="楷体" panose="02010609060101010101" charset="-122"/>
                <a:ea typeface="楷体" panose="02010609060101010101" charset="-122"/>
              </a:rPr>
              <a:t>、自然</a:t>
            </a:r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共生</a:t>
            </a:r>
          </a:p>
        </p:txBody>
      </p:sp>
      <p:sp>
        <p:nvSpPr>
          <p:cNvPr id="125" name="文本框 124"/>
          <p:cNvSpPr txBox="1"/>
          <p:nvPr/>
        </p:nvSpPr>
        <p:spPr>
          <a:xfrm>
            <a:off x="5393690" y="13293724"/>
            <a:ext cx="10045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营造技艺、工匠精神</a:t>
            </a:r>
          </a:p>
        </p:txBody>
      </p:sp>
      <p:sp>
        <p:nvSpPr>
          <p:cNvPr id="126" name="文本框 125"/>
          <p:cNvSpPr txBox="1"/>
          <p:nvPr/>
        </p:nvSpPr>
        <p:spPr>
          <a:xfrm>
            <a:off x="6372860" y="13267054"/>
            <a:ext cx="100457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民宿、文化体验、乡村旅游</a:t>
            </a:r>
          </a:p>
        </p:txBody>
      </p:sp>
      <p:sp>
        <p:nvSpPr>
          <p:cNvPr id="127" name="文本框 126"/>
          <p:cNvSpPr txBox="1"/>
          <p:nvPr/>
        </p:nvSpPr>
        <p:spPr>
          <a:xfrm>
            <a:off x="7212330" y="13282294"/>
            <a:ext cx="100457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古建筑保护、非遗保护</a:t>
            </a:r>
          </a:p>
        </p:txBody>
      </p:sp>
      <p:sp>
        <p:nvSpPr>
          <p:cNvPr id="128" name="文本框 127"/>
          <p:cNvSpPr txBox="1"/>
          <p:nvPr/>
        </p:nvSpPr>
        <p:spPr>
          <a:xfrm>
            <a:off x="8037830" y="13283564"/>
            <a:ext cx="100457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传统与现代结合、乡村振兴</a:t>
            </a:r>
          </a:p>
        </p:txBody>
      </p:sp>
      <p:sp>
        <p:nvSpPr>
          <p:cNvPr id="129" name="文本框 128"/>
          <p:cNvSpPr txBox="1"/>
          <p:nvPr/>
        </p:nvSpPr>
        <p:spPr>
          <a:xfrm>
            <a:off x="6762115" y="248539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依山而建</a:t>
            </a:r>
          </a:p>
        </p:txBody>
      </p:sp>
      <p:sp>
        <p:nvSpPr>
          <p:cNvPr id="130" name="文本框 129"/>
          <p:cNvSpPr txBox="1"/>
          <p:nvPr/>
        </p:nvSpPr>
        <p:spPr>
          <a:xfrm>
            <a:off x="6763385" y="279400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杆栏式结构</a:t>
            </a:r>
          </a:p>
        </p:txBody>
      </p:sp>
      <p:sp>
        <p:nvSpPr>
          <p:cNvPr id="131" name="文本框 130"/>
          <p:cNvSpPr txBox="1"/>
          <p:nvPr/>
        </p:nvSpPr>
        <p:spPr>
          <a:xfrm>
            <a:off x="6764655" y="310261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通风采光好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6947535" y="341122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上层住人</a:t>
            </a:r>
          </a:p>
        </p:txBody>
      </p:sp>
      <p:sp>
        <p:nvSpPr>
          <p:cNvPr id="133" name="文本框 132"/>
          <p:cNvSpPr txBox="1"/>
          <p:nvPr/>
        </p:nvSpPr>
        <p:spPr>
          <a:xfrm>
            <a:off x="6990715" y="369189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下层建筑</a:t>
            </a:r>
          </a:p>
        </p:txBody>
      </p:sp>
      <p:sp>
        <p:nvSpPr>
          <p:cNvPr id="134" name="文本框 133"/>
          <p:cNvSpPr txBox="1"/>
          <p:nvPr/>
        </p:nvSpPr>
        <p:spPr>
          <a:xfrm>
            <a:off x="7005955" y="394462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功能分区</a:t>
            </a:r>
          </a:p>
        </p:txBody>
      </p:sp>
      <p:sp>
        <p:nvSpPr>
          <p:cNvPr id="135" name="文本框 134"/>
          <p:cNvSpPr txBox="1"/>
          <p:nvPr/>
        </p:nvSpPr>
        <p:spPr>
          <a:xfrm>
            <a:off x="7118985" y="425323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歇山顶</a:t>
            </a:r>
          </a:p>
        </p:txBody>
      </p:sp>
      <p:sp>
        <p:nvSpPr>
          <p:cNvPr id="136" name="文本框 135"/>
          <p:cNvSpPr txBox="1"/>
          <p:nvPr/>
        </p:nvSpPr>
        <p:spPr>
          <a:xfrm>
            <a:off x="7134225" y="449199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硬山顶</a:t>
            </a:r>
          </a:p>
        </p:txBody>
      </p:sp>
      <p:sp>
        <p:nvSpPr>
          <p:cNvPr id="137" name="文本框 136"/>
          <p:cNvSpPr txBox="1"/>
          <p:nvPr/>
        </p:nvSpPr>
        <p:spPr>
          <a:xfrm>
            <a:off x="7149465" y="475869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小青瓦覆盖</a:t>
            </a:r>
          </a:p>
        </p:txBody>
      </p:sp>
      <p:sp>
        <p:nvSpPr>
          <p:cNvPr id="138" name="文本框 137"/>
          <p:cNvSpPr txBox="1"/>
          <p:nvPr/>
        </p:nvSpPr>
        <p:spPr>
          <a:xfrm>
            <a:off x="7136765" y="508127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穿斗式结构</a:t>
            </a:r>
          </a:p>
        </p:txBody>
      </p:sp>
      <p:sp>
        <p:nvSpPr>
          <p:cNvPr id="139" name="文本框 138"/>
          <p:cNvSpPr txBox="1"/>
          <p:nvPr/>
        </p:nvSpPr>
        <p:spPr>
          <a:xfrm>
            <a:off x="7152005" y="533400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榫卯结构</a:t>
            </a:r>
          </a:p>
        </p:txBody>
      </p:sp>
      <p:sp>
        <p:nvSpPr>
          <p:cNvPr id="140" name="文本框 139"/>
          <p:cNvSpPr txBox="1"/>
          <p:nvPr/>
        </p:nvSpPr>
        <p:spPr>
          <a:xfrm>
            <a:off x="7181215" y="561467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传统营造技艺</a:t>
            </a:r>
          </a:p>
        </p:txBody>
      </p:sp>
      <p:sp>
        <p:nvSpPr>
          <p:cNvPr id="141" name="文本框 140"/>
          <p:cNvSpPr txBox="1"/>
          <p:nvPr/>
        </p:nvSpPr>
        <p:spPr>
          <a:xfrm>
            <a:off x="7978775" y="623062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坡地建造</a:t>
            </a:r>
          </a:p>
        </p:txBody>
      </p:sp>
      <p:sp>
        <p:nvSpPr>
          <p:cNvPr id="142" name="文本框 141"/>
          <p:cNvSpPr txBox="1"/>
          <p:nvPr/>
        </p:nvSpPr>
        <p:spPr>
          <a:xfrm>
            <a:off x="7994015" y="652526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灵活错位</a:t>
            </a:r>
          </a:p>
        </p:txBody>
      </p:sp>
      <p:sp>
        <p:nvSpPr>
          <p:cNvPr id="143" name="文本框 142"/>
          <p:cNvSpPr txBox="1"/>
          <p:nvPr/>
        </p:nvSpPr>
        <p:spPr>
          <a:xfrm>
            <a:off x="7981315" y="676402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减少占地</a:t>
            </a:r>
          </a:p>
        </p:txBody>
      </p:sp>
      <p:sp>
        <p:nvSpPr>
          <p:cNvPr id="144" name="文本框 143"/>
          <p:cNvSpPr txBox="1"/>
          <p:nvPr/>
        </p:nvSpPr>
        <p:spPr>
          <a:xfrm>
            <a:off x="8080375" y="710057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通风防潮</a:t>
            </a:r>
          </a:p>
        </p:txBody>
      </p:sp>
      <p:sp>
        <p:nvSpPr>
          <p:cNvPr id="145" name="文本框 144"/>
          <p:cNvSpPr txBox="1"/>
          <p:nvPr/>
        </p:nvSpPr>
        <p:spPr>
          <a:xfrm>
            <a:off x="8095615" y="735330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遮阳避雨</a:t>
            </a:r>
          </a:p>
        </p:txBody>
      </p:sp>
      <p:sp>
        <p:nvSpPr>
          <p:cNvPr id="146" name="文本框 145"/>
          <p:cNvSpPr txBox="1"/>
          <p:nvPr/>
        </p:nvSpPr>
        <p:spPr>
          <a:xfrm>
            <a:off x="8068945" y="7606030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冬暖夏凉</a:t>
            </a:r>
          </a:p>
        </p:txBody>
      </p:sp>
      <p:sp>
        <p:nvSpPr>
          <p:cNvPr id="147" name="文本框 146"/>
          <p:cNvSpPr txBox="1"/>
          <p:nvPr/>
        </p:nvSpPr>
        <p:spPr>
          <a:xfrm>
            <a:off x="7986395" y="7942579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架空抬高</a:t>
            </a:r>
          </a:p>
        </p:txBody>
      </p:sp>
      <p:sp>
        <p:nvSpPr>
          <p:cNvPr id="148" name="文本框 147"/>
          <p:cNvSpPr txBox="1"/>
          <p:nvPr/>
        </p:nvSpPr>
        <p:spPr>
          <a:xfrm>
            <a:off x="8015605" y="8181339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适应多雨</a:t>
            </a:r>
          </a:p>
        </p:txBody>
      </p:sp>
      <p:sp>
        <p:nvSpPr>
          <p:cNvPr id="149" name="文本框 148"/>
          <p:cNvSpPr txBox="1"/>
          <p:nvPr/>
        </p:nvSpPr>
        <p:spPr>
          <a:xfrm>
            <a:off x="7988935" y="8434069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减少浸泡</a:t>
            </a:r>
          </a:p>
        </p:txBody>
      </p:sp>
      <p:sp>
        <p:nvSpPr>
          <p:cNvPr id="150" name="文本框 149"/>
          <p:cNvSpPr txBox="1"/>
          <p:nvPr/>
        </p:nvSpPr>
        <p:spPr>
          <a:xfrm>
            <a:off x="7822565" y="8742679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就地取材</a:t>
            </a:r>
          </a:p>
        </p:txBody>
      </p:sp>
      <p:sp>
        <p:nvSpPr>
          <p:cNvPr id="151" name="文本框 150"/>
          <p:cNvSpPr txBox="1"/>
          <p:nvPr/>
        </p:nvSpPr>
        <p:spPr>
          <a:xfrm>
            <a:off x="7794625" y="8980169"/>
            <a:ext cx="13049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资源循环</a:t>
            </a:r>
          </a:p>
        </p:txBody>
      </p:sp>
      <p:sp>
        <p:nvSpPr>
          <p:cNvPr id="152" name="文本框 151"/>
          <p:cNvSpPr txBox="1"/>
          <p:nvPr/>
        </p:nvSpPr>
        <p:spPr>
          <a:xfrm>
            <a:off x="814705" y="12794614"/>
            <a:ext cx="1304925" cy="253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人文文化</a:t>
            </a:r>
          </a:p>
        </p:txBody>
      </p:sp>
      <p:sp>
        <p:nvSpPr>
          <p:cNvPr id="153" name="文本框 152"/>
          <p:cNvSpPr txBox="1"/>
          <p:nvPr/>
        </p:nvSpPr>
        <p:spPr>
          <a:xfrm>
            <a:off x="802005" y="13047344"/>
            <a:ext cx="1304925" cy="253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建筑形制</a:t>
            </a:r>
          </a:p>
        </p:txBody>
      </p:sp>
      <p:sp>
        <p:nvSpPr>
          <p:cNvPr id="154" name="文本框 153"/>
          <p:cNvSpPr txBox="1"/>
          <p:nvPr/>
        </p:nvSpPr>
        <p:spPr>
          <a:xfrm>
            <a:off x="789305" y="13258164"/>
            <a:ext cx="1304925" cy="253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功能用途</a:t>
            </a:r>
          </a:p>
        </p:txBody>
      </p:sp>
      <p:sp>
        <p:nvSpPr>
          <p:cNvPr id="155" name="文本框 154"/>
          <p:cNvSpPr txBox="1"/>
          <p:nvPr/>
        </p:nvSpPr>
        <p:spPr>
          <a:xfrm>
            <a:off x="790575" y="13455014"/>
            <a:ext cx="1304925" cy="253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环境适应</a:t>
            </a:r>
          </a:p>
        </p:txBody>
      </p:sp>
      <p:sp>
        <p:nvSpPr>
          <p:cNvPr id="156" name="文本框 155"/>
          <p:cNvSpPr txBox="1"/>
          <p:nvPr/>
        </p:nvSpPr>
        <p:spPr>
          <a:xfrm>
            <a:off x="777875" y="13693774"/>
            <a:ext cx="1304925" cy="253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结构系统</a:t>
            </a:r>
          </a:p>
        </p:txBody>
      </p:sp>
      <p:sp>
        <p:nvSpPr>
          <p:cNvPr id="157" name="文本框 156"/>
          <p:cNvSpPr txBox="1"/>
          <p:nvPr/>
        </p:nvSpPr>
        <p:spPr>
          <a:xfrm>
            <a:off x="765175" y="13890624"/>
            <a:ext cx="1304925" cy="253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装饰艺术</a:t>
            </a:r>
          </a:p>
        </p:txBody>
      </p:sp>
      <p:sp>
        <p:nvSpPr>
          <p:cNvPr id="158" name="文本框 157"/>
          <p:cNvSpPr txBox="1"/>
          <p:nvPr/>
        </p:nvSpPr>
        <p:spPr>
          <a:xfrm>
            <a:off x="752475" y="14115414"/>
            <a:ext cx="1304925" cy="253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空间组织</a:t>
            </a:r>
          </a:p>
        </p:txBody>
      </p:sp>
      <p:sp>
        <p:nvSpPr>
          <p:cNvPr id="159" name="文本框 158"/>
          <p:cNvSpPr txBox="1"/>
          <p:nvPr/>
        </p:nvSpPr>
        <p:spPr>
          <a:xfrm>
            <a:off x="739775" y="14340204"/>
            <a:ext cx="1304925" cy="253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价值传承</a:t>
            </a:r>
          </a:p>
        </p:txBody>
      </p:sp>
      <p:sp>
        <p:nvSpPr>
          <p:cNvPr id="160" name="文本框 159"/>
          <p:cNvSpPr txBox="1"/>
          <p:nvPr/>
        </p:nvSpPr>
        <p:spPr>
          <a:xfrm>
            <a:off x="2417445" y="14229714"/>
            <a:ext cx="1304925" cy="253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关联关系</a:t>
            </a:r>
          </a:p>
        </p:txBody>
      </p:sp>
      <p:sp>
        <p:nvSpPr>
          <p:cNvPr id="161" name="文本框 160"/>
          <p:cNvSpPr txBox="1"/>
          <p:nvPr/>
        </p:nvSpPr>
        <p:spPr>
          <a:xfrm>
            <a:off x="2446655" y="14021434"/>
            <a:ext cx="1304925" cy="253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</a:rPr>
              <a:t>核心关系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50065" y="1785873"/>
            <a:ext cx="5302885" cy="91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ts val="3200"/>
              </a:lnSpc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贵州地处云贵高原东部，山地峡谷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</a:rPr>
              <a:t>密集、气候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湿润，河流众多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</a:rPr>
              <a:t>。吊脚楼依山傍水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</a:rPr>
              <a:t>而建，顺应</a:t>
            </a:r>
            <a:r>
              <a:rPr lang="zh-CN" altLang="en-US" dirty="0" smtClean="0">
                <a:latin typeface="楷体" panose="02010609060101010101" charset="-122"/>
                <a:ea typeface="楷体" panose="02010609060101010101" charset="-122"/>
              </a:rPr>
              <a:t>自然环境</a:t>
            </a:r>
            <a:endParaRPr lang="zh-CN" altLang="en-US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7065" y="2813368"/>
            <a:ext cx="1802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1F3B2F"/>
                </a:solidFill>
              </a:rPr>
              <a:t>贵州自然环境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569575" y="2813368"/>
            <a:ext cx="18021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1F3B2F"/>
                </a:solidFill>
              </a:rPr>
              <a:t>建筑适应策略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85335" y="11072178"/>
            <a:ext cx="22034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solidFill>
                  <a:srgbClr val="1F3B2F"/>
                </a:solidFill>
              </a:rPr>
              <a:t>自然环境问题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735445" y="11072178"/>
            <a:ext cx="6502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>
                <a:solidFill>
                  <a:srgbClr val="1F3B2F"/>
                </a:solidFill>
                <a:sym typeface="+mn-ea"/>
              </a:rPr>
              <a:t>建筑回应策略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0810" y="12887008"/>
            <a:ext cx="2581275" cy="44704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0263505" y="15736353"/>
            <a:ext cx="11957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</a:rPr>
              <a:t>小</a:t>
            </a:r>
            <a:r>
              <a:rPr lang="en-US" altLang="zh-CN" sz="2000" dirty="0" smtClean="0">
                <a:solidFill>
                  <a:schemeClr val="bg1"/>
                </a:solidFill>
              </a:rPr>
              <a:t> </a:t>
            </a:r>
            <a:r>
              <a:rPr lang="zh-CN" altLang="en-US" sz="2000" dirty="0">
                <a:solidFill>
                  <a:schemeClr val="bg1"/>
                </a:solidFill>
              </a:rPr>
              <a:t>结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196340" y="3283268"/>
            <a:ext cx="1196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1F3B2F"/>
                </a:solidFill>
              </a:rPr>
              <a:t>地形地貌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196340" y="3601403"/>
            <a:ext cx="16236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山地丘陵占比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196340" y="4278313"/>
            <a:ext cx="16236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喀斯特地貌广布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209675" y="3805873"/>
            <a:ext cx="1318895" cy="546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3200">
                <a:latin typeface="Times New Roman" panose="02020603050405020304" charset="0"/>
                <a:cs typeface="Times New Roman" panose="02020603050405020304" charset="0"/>
              </a:rPr>
              <a:t>92.5%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196340" y="4691698"/>
            <a:ext cx="1196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1F3B2F"/>
                </a:solidFill>
              </a:rPr>
              <a:t>气候特征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1196340" y="6232843"/>
            <a:ext cx="1196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1F3B2F"/>
                </a:solidFill>
              </a:rPr>
              <a:t>水文特征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196340" y="7678103"/>
            <a:ext cx="1196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1F3B2F"/>
                </a:solidFill>
              </a:rPr>
              <a:t>森林资源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184275" y="5006658"/>
            <a:ext cx="1623695" cy="1229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年均降雨量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1200~2000mm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年均相对湿度</a:t>
            </a:r>
          </a:p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75%~85%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197610" y="6498908"/>
            <a:ext cx="180721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河流密度</a:t>
            </a:r>
            <a:r>
              <a:rPr lang="en-US" altLang="zh-CN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2.1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~</a:t>
            </a:r>
            <a:r>
              <a:rPr lang="en-US" altLang="zh-CN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2.8km/km</a:t>
            </a:r>
            <a:r>
              <a:rPr lang="en-US" altLang="zh-CN" baseline="300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2</a:t>
            </a:r>
          </a:p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河网发达</a:t>
            </a:r>
          </a:p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山洪频发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1173480" y="7967028"/>
            <a:ext cx="1501775" cy="1260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森林覆盖率</a:t>
            </a:r>
            <a:r>
              <a:rPr lang="en-US" altLang="zh-CN" sz="28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62.6%</a:t>
            </a:r>
            <a:endParaRPr lang="en-US" altLang="zh-CN" sz="16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植被多样</a:t>
            </a:r>
          </a:p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生态良好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187825" y="2953068"/>
            <a:ext cx="10013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山风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399530" y="3101658"/>
            <a:ext cx="1721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雨水快速导流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3078480" y="8499793"/>
            <a:ext cx="13506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水流走向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5338445" y="7692708"/>
            <a:ext cx="12153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湿气散发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8805545" y="7022148"/>
            <a:ext cx="13373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顺应山势</a:t>
            </a:r>
          </a:p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依坡而建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3324860" y="10098723"/>
            <a:ext cx="2369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       </a:t>
            </a:r>
            <a:r>
              <a:rPr lang="zh-CN" altLang="en-US" b="1"/>
              <a:t>坡屋顶排水</a:t>
            </a:r>
          </a:p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大坡屋顶，快速导流，</a:t>
            </a:r>
            <a:r>
              <a:rPr lang="en-US" altLang="zh-CN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  <a:r>
              <a:rPr lang="en-US" altLang="zh-CN"/>
              <a:t>                                                      </a:t>
            </a:r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662680" y="10673398"/>
            <a:ext cx="17246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减少雨水渗入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5387340" y="10100628"/>
            <a:ext cx="2244725" cy="4184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/>
              <a:t>  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木结构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榫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卯</a:t>
            </a:r>
            <a:endParaRPr lang="zh-CN" altLang="en-US" b="1"/>
          </a:p>
          <a:p>
            <a:endParaRPr lang="zh-CN" altLang="en-US" sz="16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387340" y="10416858"/>
            <a:ext cx="23571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榫卵连接，增强结构</a:t>
            </a:r>
          </a:p>
          <a:p>
            <a:r>
              <a:rPr lang="en-US" altLang="zh-CN" sz="160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抗震柔性与稳定性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7660005" y="10100628"/>
            <a:ext cx="1306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/>
              <a:t>石基结构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7376160" y="10416858"/>
            <a:ext cx="21247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石基垫高，稳固地形，</a:t>
            </a:r>
            <a:r>
              <a:rPr lang="en-US" altLang="zh-CN" sz="1600">
                <a:latin typeface="楷体" panose="02010609060101010101" charset="-122"/>
                <a:ea typeface="楷体" panose="02010609060101010101" charset="-122"/>
              </a:rPr>
              <a:t>        </a:t>
            </a:r>
            <a:endParaRPr lang="zh-CN" altLang="en-US" sz="16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609205" y="10664508"/>
            <a:ext cx="20224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防止冲刷与滑坡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10034905" y="3290253"/>
            <a:ext cx="2080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1F3B2F"/>
                </a:solidFill>
                <a:latin typeface="Times New Roman" panose="02020603050405020304" charset="0"/>
                <a:cs typeface="Times New Roman" panose="02020603050405020304" charset="0"/>
              </a:rPr>
              <a:t>①</a:t>
            </a:r>
            <a:r>
              <a:rPr lang="zh-CN" altLang="en-US" b="1" dirty="0" smtClean="0">
                <a:solidFill>
                  <a:srgbClr val="1F3B2F"/>
                </a:solidFill>
              </a:rPr>
              <a:t>坡地</a:t>
            </a:r>
            <a:r>
              <a:rPr lang="zh-CN" altLang="en-US" b="1" dirty="0">
                <a:solidFill>
                  <a:srgbClr val="1F3B2F"/>
                </a:solidFill>
              </a:rPr>
              <a:t>适应结构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10034905" y="4691698"/>
            <a:ext cx="19310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1F3B2F"/>
                </a:solidFill>
                <a:latin typeface="Times New Roman" panose="02020603050405020304" charset="0"/>
                <a:cs typeface="Times New Roman" panose="02020603050405020304" charset="0"/>
              </a:rPr>
              <a:t>②</a:t>
            </a:r>
            <a:r>
              <a:rPr lang="zh-CN" altLang="en-US" b="1" dirty="0" smtClean="0">
                <a:solidFill>
                  <a:srgbClr val="1F3B2F"/>
                </a:solidFill>
              </a:rPr>
              <a:t>架空</a:t>
            </a:r>
            <a:r>
              <a:rPr lang="zh-CN" altLang="en-US" b="1" dirty="0">
                <a:solidFill>
                  <a:srgbClr val="1F3B2F"/>
                </a:solidFill>
              </a:rPr>
              <a:t>防潮系统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10034905" y="6130608"/>
            <a:ext cx="18116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1F3B2F"/>
                </a:solidFill>
                <a:latin typeface="Times New Roman" panose="02020603050405020304" charset="0"/>
                <a:cs typeface="Times New Roman" panose="02020603050405020304" charset="0"/>
              </a:rPr>
              <a:t>③</a:t>
            </a:r>
            <a:r>
              <a:rPr lang="zh-CN" altLang="en-US" b="1" dirty="0" smtClean="0">
                <a:solidFill>
                  <a:srgbClr val="1F3B2F"/>
                </a:solidFill>
              </a:rPr>
              <a:t>坡屋顶</a:t>
            </a:r>
            <a:r>
              <a:rPr lang="zh-CN" altLang="en-US" b="1" dirty="0">
                <a:solidFill>
                  <a:srgbClr val="1F3B2F"/>
                </a:solidFill>
              </a:rPr>
              <a:t>排水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10034905" y="7384098"/>
            <a:ext cx="18116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1F3B2F"/>
                </a:solidFill>
                <a:latin typeface="Times New Roman" panose="02020603050405020304" charset="0"/>
                <a:cs typeface="Times New Roman" panose="02020603050405020304" charset="0"/>
              </a:rPr>
              <a:t>④</a:t>
            </a:r>
            <a:r>
              <a:rPr lang="zh-CN" altLang="en-US" b="1" dirty="0" smtClean="0">
                <a:solidFill>
                  <a:srgbClr val="1F3B2F"/>
                </a:solidFill>
              </a:rPr>
              <a:t>木结构</a:t>
            </a:r>
            <a:r>
              <a:rPr lang="zh-CN" altLang="en-US" b="1" dirty="0">
                <a:solidFill>
                  <a:srgbClr val="1F3B2F"/>
                </a:solidFill>
              </a:rPr>
              <a:t>抗震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10034905" y="8748713"/>
            <a:ext cx="6502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 smtClean="0">
                <a:solidFill>
                  <a:srgbClr val="1F3B2F"/>
                </a:solidFill>
                <a:latin typeface="Times New Roman" panose="02020603050405020304" charset="0"/>
                <a:cs typeface="Times New Roman" panose="02020603050405020304" charset="0"/>
              </a:rPr>
              <a:t>⑤</a:t>
            </a:r>
            <a:r>
              <a:rPr lang="zh-CN" altLang="en-US" b="1" dirty="0" smtClean="0">
                <a:solidFill>
                  <a:srgbClr val="1F3B2F"/>
                </a:solidFill>
              </a:rPr>
              <a:t>防洪</a:t>
            </a:r>
            <a:r>
              <a:rPr lang="zh-CN" altLang="en-US" b="1" dirty="0">
                <a:solidFill>
                  <a:srgbClr val="1F3B2F"/>
                </a:solidFill>
              </a:rPr>
              <a:t>避水设计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10034905" y="10113328"/>
            <a:ext cx="65024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 dirty="0" smtClean="0">
                <a:solidFill>
                  <a:srgbClr val="1F3B2F"/>
                </a:solidFill>
                <a:latin typeface="Times New Roman" panose="02020603050405020304" charset="0"/>
                <a:cs typeface="Times New Roman" panose="02020603050405020304" charset="0"/>
              </a:rPr>
              <a:t>⑥</a:t>
            </a:r>
            <a:r>
              <a:rPr lang="zh-CN" altLang="en-US" b="1" dirty="0" smtClean="0">
                <a:solidFill>
                  <a:srgbClr val="1F3B2F"/>
                </a:solidFill>
              </a:rPr>
              <a:t>通风</a:t>
            </a:r>
            <a:r>
              <a:rPr lang="zh-CN" altLang="en-US" b="1" dirty="0">
                <a:solidFill>
                  <a:srgbClr val="1F3B2F"/>
                </a:solidFill>
              </a:rPr>
              <a:t>散湿系统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10014585" y="3617913"/>
            <a:ext cx="21101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顺由地势，依坡而建，</a:t>
            </a:r>
          </a:p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减少</a:t>
            </a:r>
            <a:r>
              <a:rPr lang="zh-CN" altLang="en-US" sz="1400" dirty="0" smtClean="0">
                <a:latin typeface="楷体" panose="02010609060101010101" charset="-122"/>
                <a:ea typeface="楷体" panose="02010609060101010101" charset="-122"/>
              </a:rPr>
              <a:t>土石方开挖</a:t>
            </a:r>
            <a:endParaRPr lang="zh-CN" altLang="en-US" sz="14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0019030" y="5012373"/>
            <a:ext cx="16192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底层架空隔绝</a:t>
            </a:r>
          </a:p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温气与</a:t>
            </a:r>
            <a:r>
              <a:rPr lang="zh-CN" altLang="en-US" sz="1400" dirty="0" smtClean="0">
                <a:latin typeface="楷体" panose="02010609060101010101" charset="-122"/>
                <a:ea typeface="楷体" panose="02010609060101010101" charset="-122"/>
              </a:rPr>
              <a:t>积水</a:t>
            </a:r>
            <a:endParaRPr lang="zh-CN" altLang="en-US" sz="14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0010140" y="6459538"/>
            <a:ext cx="16192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大坡度屋顶，</a:t>
            </a:r>
          </a:p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快速</a:t>
            </a:r>
            <a:r>
              <a:rPr lang="zh-CN" altLang="en-US" sz="1400" dirty="0" smtClean="0">
                <a:latin typeface="楷体" panose="02010609060101010101" charset="-122"/>
                <a:ea typeface="楷体" panose="02010609060101010101" charset="-122"/>
              </a:rPr>
              <a:t>导流</a:t>
            </a:r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雨水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10010775" y="7722553"/>
            <a:ext cx="16192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卯榫连接增强</a:t>
            </a:r>
          </a:p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柔性与</a:t>
            </a:r>
            <a:r>
              <a:rPr lang="zh-CN" altLang="en-US" sz="1400" dirty="0" smtClean="0">
                <a:latin typeface="楷体" panose="02010609060101010101" charset="-122"/>
                <a:ea typeface="楷体" panose="02010609060101010101" charset="-122"/>
              </a:rPr>
              <a:t>稳定性</a:t>
            </a:r>
            <a:endParaRPr lang="zh-CN" altLang="en-US" sz="14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0019030" y="9094788"/>
            <a:ext cx="16192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楷体" panose="02010609060101010101" charset="-122"/>
                <a:ea typeface="楷体" panose="02010609060101010101" charset="-122"/>
              </a:rPr>
              <a:t>建筑抬高</a:t>
            </a:r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，</a:t>
            </a:r>
          </a:p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应对山区洪水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10034905" y="10449878"/>
            <a:ext cx="16192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开放式结构，</a:t>
            </a:r>
          </a:p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促进空气</a:t>
            </a:r>
            <a:r>
              <a:rPr lang="zh-CN" altLang="en-US" sz="1400" dirty="0" smtClean="0">
                <a:latin typeface="楷体" panose="02010609060101010101" charset="-122"/>
                <a:ea typeface="楷体" panose="02010609060101010101" charset="-122"/>
              </a:rPr>
              <a:t>流通</a:t>
            </a:r>
            <a:endParaRPr lang="zh-CN" altLang="en-US" sz="14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41045" y="11567478"/>
            <a:ext cx="12026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多雨环境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2807970" y="11567478"/>
            <a:ext cx="12026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潮湿气候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4754245" y="11567478"/>
            <a:ext cx="12026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坡地复杂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6735445" y="11567478"/>
            <a:ext cx="12026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山洪频发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8843645" y="11567478"/>
            <a:ext cx="12026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地基不稳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1006455" y="11567478"/>
            <a:ext cx="12026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云雾湿重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645795" y="12587923"/>
            <a:ext cx="12026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坡屋顶排水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2820035" y="12587923"/>
            <a:ext cx="12026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架空通风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4754245" y="12587923"/>
            <a:ext cx="12026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吊脚支撑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6735445" y="12587923"/>
            <a:ext cx="12026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高位防洪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8841740" y="12587923"/>
            <a:ext cx="12026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木构柔性</a:t>
            </a:r>
            <a:endParaRPr lang="en-US" altLang="zh-CN" sz="16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1006455" y="12587923"/>
            <a:ext cx="12026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通风散湿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7814310" y="13231178"/>
            <a:ext cx="2195830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 dirty="0">
                <a:latin typeface="Times New Roman" panose="02020603050405020304" charset="0"/>
                <a:cs typeface="Times New Roman" panose="02020603050405020304" charset="0"/>
              </a:rPr>
              <a:t>④</a:t>
            </a:r>
            <a:r>
              <a:rPr lang="zh-CN" altLang="en-US" sz="1400" b="1" dirty="0" smtClean="0"/>
              <a:t>河谷</a:t>
            </a:r>
            <a:r>
              <a:rPr lang="zh-CN" altLang="en-US" sz="1400" b="1" dirty="0"/>
              <a:t>密度</a:t>
            </a:r>
            <a:r>
              <a:rPr lang="en-US" altLang="zh-CN" sz="1400" b="1" dirty="0"/>
              <a:t>(</a:t>
            </a:r>
            <a:r>
              <a:rPr lang="en-US" altLang="zh-CN" sz="1400" b="1" dirty="0">
                <a:latin typeface="Times New Roman" panose="02020603050405020304" charset="0"/>
                <a:cs typeface="Times New Roman" panose="02020603050405020304" charset="0"/>
              </a:rPr>
              <a:t>km/km</a:t>
            </a:r>
            <a:r>
              <a:rPr lang="en-US" altLang="zh-CN" sz="1400" b="1" baseline="30000" dirty="0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en-US" altLang="zh-CN" sz="1400" b="1" dirty="0"/>
              <a:t>)</a:t>
            </a:r>
            <a:endParaRPr lang="en-US" altLang="zh-CN" sz="16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5315585" y="13240703"/>
            <a:ext cx="1987550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 dirty="0">
                <a:latin typeface="Times New Roman" panose="02020603050405020304" charset="0"/>
                <a:cs typeface="Times New Roman" panose="02020603050405020304" charset="0"/>
              </a:rPr>
              <a:t>③</a:t>
            </a:r>
            <a:r>
              <a:rPr lang="zh-CN" altLang="en-US" sz="1400" b="1" dirty="0" smtClean="0"/>
              <a:t>山地</a:t>
            </a:r>
            <a:r>
              <a:rPr lang="zh-CN" altLang="en-US" sz="1400" b="1" dirty="0"/>
              <a:t>坡度分布</a:t>
            </a:r>
            <a:r>
              <a:rPr lang="en-US" altLang="zh-CN" sz="1400" b="1" dirty="0"/>
              <a:t>(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°</a:t>
            </a:r>
            <a:r>
              <a:rPr lang="en-US" altLang="zh-CN" sz="1400" b="1" dirty="0"/>
              <a:t>)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2817495" y="13231178"/>
            <a:ext cx="2159000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 dirty="0">
                <a:latin typeface="Times New Roman" panose="02020603050405020304" charset="0"/>
                <a:cs typeface="Times New Roman" panose="02020603050405020304" charset="0"/>
              </a:rPr>
              <a:t>②</a:t>
            </a:r>
            <a:r>
              <a:rPr lang="zh-CN" altLang="en-US" sz="1400" b="1" dirty="0" smtClean="0"/>
              <a:t>空气湿度</a:t>
            </a:r>
            <a:r>
              <a:rPr lang="zh-CN" altLang="en-US" sz="1400" b="1" dirty="0"/>
              <a:t>分布</a:t>
            </a:r>
            <a:r>
              <a:rPr lang="en-US" altLang="zh-CN" sz="1400" b="1" dirty="0"/>
              <a:t>(</a:t>
            </a:r>
            <a:r>
              <a:rPr lang="en-US" altLang="zh-CN" sz="1400" b="1" dirty="0">
                <a:latin typeface="Times New Roman" panose="02020603050405020304" charset="0"/>
                <a:cs typeface="Times New Roman" panose="02020603050405020304" charset="0"/>
              </a:rPr>
              <a:t>%</a:t>
            </a:r>
            <a:r>
              <a:rPr lang="en-US" altLang="zh-CN" sz="1400" b="1" dirty="0"/>
              <a:t>)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324485" y="13231178"/>
            <a:ext cx="2306955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 dirty="0">
                <a:latin typeface="Times New Roman" panose="02020603050405020304" charset="0"/>
                <a:cs typeface="Times New Roman" panose="02020603050405020304" charset="0"/>
              </a:rPr>
              <a:t>①</a:t>
            </a:r>
            <a:r>
              <a:rPr lang="zh-CN" altLang="en-US" sz="1400" b="1" dirty="0" smtClean="0"/>
              <a:t>年</a:t>
            </a:r>
            <a:r>
              <a:rPr lang="zh-CN" altLang="en-US" sz="1400" b="1" dirty="0"/>
              <a:t>降雨量变化</a:t>
            </a:r>
            <a:r>
              <a:rPr lang="en-US" altLang="zh-CN" sz="1400" b="1" dirty="0"/>
              <a:t>(</a:t>
            </a:r>
            <a:r>
              <a:rPr lang="en-US" altLang="zh-CN" sz="1400" b="1" dirty="0">
                <a:latin typeface="Times New Roman" panose="02020603050405020304" charset="0"/>
                <a:cs typeface="Times New Roman" panose="02020603050405020304" charset="0"/>
              </a:rPr>
              <a:t>mm</a:t>
            </a:r>
            <a:r>
              <a:rPr lang="en-US" altLang="zh-CN" sz="1400" b="1" dirty="0"/>
              <a:t>)</a:t>
            </a:r>
          </a:p>
        </p:txBody>
      </p:sp>
      <p:sp>
        <p:nvSpPr>
          <p:cNvPr id="67" name="文本框 66"/>
          <p:cNvSpPr txBox="1"/>
          <p:nvPr/>
        </p:nvSpPr>
        <p:spPr>
          <a:xfrm>
            <a:off x="10297160" y="13231178"/>
            <a:ext cx="6502400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 dirty="0">
                <a:latin typeface="Times New Roman" panose="02020603050405020304" charset="0"/>
                <a:cs typeface="Times New Roman" panose="02020603050405020304" charset="0"/>
              </a:rPr>
              <a:t>⑤</a:t>
            </a:r>
            <a:r>
              <a:rPr lang="zh-CN" altLang="en-US" sz="1400" b="1" dirty="0" smtClean="0"/>
              <a:t>云雾</a:t>
            </a:r>
            <a:r>
              <a:rPr lang="zh-CN" altLang="en-US" sz="1400" b="1" dirty="0"/>
              <a:t>天气统计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203835" y="15757208"/>
            <a:ext cx="1844675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 dirty="0">
                <a:latin typeface="Times New Roman" panose="02020603050405020304" charset="0"/>
                <a:cs typeface="Times New Roman" panose="02020603050405020304" charset="0"/>
              </a:rPr>
              <a:t>⑥</a:t>
            </a:r>
            <a:r>
              <a:rPr lang="zh-CN" altLang="en-US" sz="1400" b="1" dirty="0" smtClean="0"/>
              <a:t>山洪</a:t>
            </a:r>
            <a:r>
              <a:rPr lang="zh-CN" altLang="en-US" sz="1400" b="1" dirty="0"/>
              <a:t>发生频率（次）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2073275" y="15757208"/>
            <a:ext cx="2009775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 b="1" dirty="0" smtClean="0"/>
              <a:t>⑦建筑</a:t>
            </a:r>
            <a:r>
              <a:rPr lang="zh-CN" altLang="en-US" sz="1400" b="1" dirty="0"/>
              <a:t>离地高度分析</a:t>
            </a:r>
            <a:r>
              <a:rPr lang="en-US" altLang="zh-CN" sz="1400" b="1" dirty="0"/>
              <a:t>(</a:t>
            </a:r>
            <a:r>
              <a:rPr lang="en-US" altLang="zh-CN" sz="1400" b="1" dirty="0">
                <a:latin typeface="Times New Roman" panose="02020603050405020304" charset="0"/>
                <a:cs typeface="Times New Roman" panose="02020603050405020304" charset="0"/>
              </a:rPr>
              <a:t>m</a:t>
            </a:r>
            <a:r>
              <a:rPr lang="en-US" altLang="zh-CN" sz="1400" b="1" dirty="0"/>
              <a:t>)</a:t>
            </a:r>
          </a:p>
        </p:txBody>
      </p:sp>
      <p:sp>
        <p:nvSpPr>
          <p:cNvPr id="70" name="文本框 69"/>
          <p:cNvSpPr txBox="1"/>
          <p:nvPr/>
        </p:nvSpPr>
        <p:spPr>
          <a:xfrm>
            <a:off x="4265930" y="15757208"/>
            <a:ext cx="2088515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 dirty="0">
                <a:latin typeface="Times New Roman" panose="02020603050405020304" charset="0"/>
                <a:cs typeface="Times New Roman" panose="02020603050405020304" charset="0"/>
              </a:rPr>
              <a:t>⑧</a:t>
            </a:r>
            <a:r>
              <a:rPr lang="zh-CN" altLang="en-US" sz="1400" b="1" dirty="0" smtClean="0"/>
              <a:t>通风效率</a:t>
            </a:r>
            <a:r>
              <a:rPr lang="zh-CN" altLang="en-US" sz="1400" b="1" dirty="0"/>
              <a:t>分析</a:t>
            </a:r>
            <a:r>
              <a:rPr lang="en-US" altLang="zh-CN" sz="1400" b="1" dirty="0"/>
              <a:t>(</a:t>
            </a:r>
            <a:r>
              <a:rPr lang="zh-CN" altLang="en-US" sz="1400" b="1" dirty="0"/>
              <a:t>穿堂风</a:t>
            </a:r>
            <a:r>
              <a:rPr lang="en-US" altLang="zh-CN" sz="1400" b="1" dirty="0"/>
              <a:t>)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6437630" y="15757208"/>
            <a:ext cx="2009775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 dirty="0">
                <a:latin typeface="Times New Roman" panose="02020603050405020304" charset="0"/>
                <a:cs typeface="Times New Roman" panose="02020603050405020304" charset="0"/>
              </a:rPr>
              <a:t>⑨</a:t>
            </a:r>
            <a:r>
              <a:rPr lang="zh-CN" altLang="en-US" sz="1400" b="1" dirty="0" smtClean="0"/>
              <a:t>木结构</a:t>
            </a:r>
            <a:r>
              <a:rPr lang="zh-CN" altLang="en-US" sz="1400" b="1" dirty="0"/>
              <a:t>抗震对比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8211185" y="15757208"/>
            <a:ext cx="2009775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 dirty="0">
                <a:latin typeface="Times New Roman" panose="02020603050405020304" charset="0"/>
                <a:cs typeface="Times New Roman" panose="02020603050405020304" charset="0"/>
              </a:rPr>
              <a:t>⑩</a:t>
            </a:r>
            <a:r>
              <a:rPr lang="zh-CN" altLang="en-US" sz="1400" b="1" dirty="0" smtClean="0"/>
              <a:t>地形</a:t>
            </a:r>
            <a:r>
              <a:rPr lang="zh-CN" altLang="en-US" sz="1400" b="1" dirty="0"/>
              <a:t>适应性对比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10123805" y="16222028"/>
            <a:ext cx="286004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楷体" panose="02010609060101010101" charset="-122"/>
                <a:ea typeface="楷体" panose="02010609060101010101" charset="-122"/>
              </a:rPr>
              <a:t>吊脚楼是贵州山地居民</a:t>
            </a:r>
          </a:p>
          <a:p>
            <a:r>
              <a:rPr lang="zh-CN" altLang="en-US" sz="1400" b="1" dirty="0">
                <a:latin typeface="楷体" panose="02010609060101010101" charset="-122"/>
                <a:ea typeface="楷体" panose="02010609060101010101" charset="-122"/>
              </a:rPr>
              <a:t>顺应自然环境形成的建筑智慧，</a:t>
            </a:r>
          </a:p>
          <a:p>
            <a:r>
              <a:rPr lang="zh-CN" altLang="en-US" sz="1400" b="1" dirty="0">
                <a:latin typeface="楷体" panose="02010609060101010101" charset="-122"/>
                <a:ea typeface="楷体" panose="02010609060101010101" charset="-122"/>
              </a:rPr>
              <a:t>通过架空、防潮、排水、通风与</a:t>
            </a:r>
          </a:p>
          <a:p>
            <a:r>
              <a:rPr lang="zh-CN" altLang="en-US" sz="1400" b="1" dirty="0">
                <a:latin typeface="楷体" panose="02010609060101010101" charset="-122"/>
                <a:ea typeface="楷体" panose="02010609060101010101" charset="-122"/>
              </a:rPr>
              <a:t>木构技术，实现人与自然</a:t>
            </a:r>
          </a:p>
          <a:p>
            <a:r>
              <a:rPr lang="zh-CN" altLang="en-US" sz="1400" b="1" dirty="0">
                <a:latin typeface="楷体" panose="02010609060101010101" charset="-122"/>
                <a:ea typeface="楷体" panose="02010609060101010101" charset="-122"/>
              </a:rPr>
              <a:t>和谐</a:t>
            </a:r>
            <a:r>
              <a:rPr lang="zh-CN" altLang="en-US" sz="1400" b="1" dirty="0" smtClean="0">
                <a:latin typeface="楷体" panose="02010609060101010101" charset="-122"/>
                <a:ea typeface="楷体" panose="02010609060101010101" charset="-122"/>
              </a:rPr>
              <a:t>共生</a:t>
            </a:r>
            <a:endParaRPr lang="zh-CN" altLang="en-US" sz="1400" b="1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324485" y="17431703"/>
            <a:ext cx="1913890" cy="168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00"/>
              <a:t>     </a:t>
            </a:r>
            <a:r>
              <a:rPr lang="en-US" altLang="zh-CN" sz="50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zh-CN" altLang="en-US" sz="500">
                <a:latin typeface="Times New Roman" panose="02020603050405020304" charset="0"/>
                <a:cs typeface="Times New Roman" panose="02020603050405020304" charset="0"/>
              </a:rPr>
              <a:t>月</a:t>
            </a:r>
            <a:r>
              <a:rPr lang="en-US" altLang="zh-CN" sz="500">
                <a:latin typeface="Times New Roman" panose="02020603050405020304" charset="0"/>
                <a:cs typeface="Times New Roman" panose="02020603050405020304" charset="0"/>
              </a:rPr>
              <a:t>  2</a:t>
            </a:r>
            <a:r>
              <a:rPr lang="zh-CN" altLang="en-US" sz="500"/>
              <a:t>月</a:t>
            </a:r>
            <a:r>
              <a:rPr lang="en-US" altLang="zh-CN" sz="500"/>
              <a:t>  </a:t>
            </a:r>
            <a:r>
              <a:rPr lang="en-US" altLang="zh-CN" sz="500">
                <a:latin typeface="Times New Roman" panose="02020603050405020304" charset="0"/>
                <a:cs typeface="Times New Roman" panose="02020603050405020304" charset="0"/>
              </a:rPr>
              <a:t>3</a:t>
            </a:r>
            <a:r>
              <a:rPr lang="zh-CN" altLang="en-US" sz="500"/>
              <a:t>月</a:t>
            </a:r>
            <a:r>
              <a:rPr lang="en-US" altLang="zh-CN" sz="500"/>
              <a:t>  </a:t>
            </a:r>
            <a:r>
              <a:rPr lang="en-US" altLang="zh-CN" sz="500">
                <a:latin typeface="Times New Roman" panose="02020603050405020304" charset="0"/>
                <a:cs typeface="Times New Roman" panose="02020603050405020304" charset="0"/>
              </a:rPr>
              <a:t>4</a:t>
            </a:r>
            <a:r>
              <a:rPr lang="zh-CN" altLang="en-US" sz="500"/>
              <a:t>月</a:t>
            </a:r>
            <a:r>
              <a:rPr lang="en-US" altLang="zh-CN" sz="500"/>
              <a:t> </a:t>
            </a:r>
            <a:r>
              <a:rPr lang="en-US" altLang="zh-CN" sz="500">
                <a:latin typeface="Times New Roman" panose="02020603050405020304" charset="0"/>
                <a:cs typeface="Times New Roman" panose="02020603050405020304" charset="0"/>
              </a:rPr>
              <a:t>5</a:t>
            </a:r>
            <a:r>
              <a:rPr lang="zh-CN" altLang="en-US" sz="500"/>
              <a:t>月</a:t>
            </a:r>
            <a:r>
              <a:rPr lang="en-US" altLang="zh-CN" sz="500">
                <a:latin typeface="Times New Roman" panose="02020603050405020304" charset="0"/>
                <a:cs typeface="Times New Roman" panose="02020603050405020304" charset="0"/>
              </a:rPr>
              <a:t>6</a:t>
            </a:r>
            <a:r>
              <a:rPr lang="zh-CN" altLang="en-US" sz="500"/>
              <a:t>月</a:t>
            </a:r>
            <a:r>
              <a:rPr lang="en-US" altLang="zh-CN" sz="500">
                <a:latin typeface="Times New Roman" panose="02020603050405020304" charset="0"/>
                <a:cs typeface="Times New Roman" panose="02020603050405020304" charset="0"/>
              </a:rPr>
              <a:t>7</a:t>
            </a:r>
            <a:r>
              <a:rPr lang="zh-CN" altLang="en-US" sz="500"/>
              <a:t>月</a:t>
            </a:r>
            <a:r>
              <a:rPr lang="en-US" altLang="zh-CN" sz="500">
                <a:latin typeface="Times New Roman" panose="02020603050405020304" charset="0"/>
                <a:cs typeface="Times New Roman" panose="02020603050405020304" charset="0"/>
              </a:rPr>
              <a:t>8</a:t>
            </a:r>
            <a:r>
              <a:rPr lang="zh-CN" altLang="en-US" sz="500"/>
              <a:t>月</a:t>
            </a:r>
            <a:r>
              <a:rPr lang="en-US" altLang="zh-CN" sz="500">
                <a:latin typeface="Times New Roman" panose="02020603050405020304" charset="0"/>
                <a:cs typeface="Times New Roman" panose="02020603050405020304" charset="0"/>
              </a:rPr>
              <a:t>9</a:t>
            </a:r>
            <a:r>
              <a:rPr lang="zh-CN" altLang="en-US" sz="500"/>
              <a:t>月</a:t>
            </a:r>
            <a:r>
              <a:rPr lang="en-US" altLang="zh-CN" sz="500">
                <a:latin typeface="Times New Roman" panose="02020603050405020304" charset="0"/>
                <a:cs typeface="Times New Roman" panose="02020603050405020304" charset="0"/>
              </a:rPr>
              <a:t>10</a:t>
            </a:r>
            <a:r>
              <a:rPr lang="zh-CN" altLang="en-US" sz="500"/>
              <a:t>月</a:t>
            </a:r>
            <a:r>
              <a:rPr lang="en-US" altLang="zh-CN" sz="500">
                <a:latin typeface="Times New Roman" panose="02020603050405020304" charset="0"/>
                <a:cs typeface="Times New Roman" panose="02020603050405020304" charset="0"/>
              </a:rPr>
              <a:t>11</a:t>
            </a:r>
            <a:r>
              <a:rPr lang="zh-CN" altLang="en-US" sz="500"/>
              <a:t>月</a:t>
            </a:r>
            <a:r>
              <a:rPr lang="en-US" altLang="zh-CN" sz="500">
                <a:latin typeface="Times New Roman" panose="02020603050405020304" charset="0"/>
                <a:cs typeface="Times New Roman" panose="02020603050405020304" charset="0"/>
              </a:rPr>
              <a:t>12</a:t>
            </a:r>
            <a:r>
              <a:rPr lang="zh-CN" altLang="en-US" sz="500"/>
              <a:t>月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540385" y="17725708"/>
            <a:ext cx="19208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5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~</a:t>
            </a:r>
            <a:r>
              <a:rPr lang="en-US" altLang="zh-CN" sz="14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8</a:t>
            </a:r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月山洪频发</a:t>
            </a:r>
          </a:p>
        </p:txBody>
      </p:sp>
      <p:sp>
        <p:nvSpPr>
          <p:cNvPr id="79" name="文本框 78"/>
          <p:cNvSpPr txBox="1"/>
          <p:nvPr/>
        </p:nvSpPr>
        <p:spPr>
          <a:xfrm>
            <a:off x="193675" y="16086773"/>
            <a:ext cx="386715" cy="240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30</a:t>
            </a:r>
          </a:p>
          <a:p>
            <a:endParaRPr lang="en-US" altLang="zh-CN" sz="100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192405" y="16327438"/>
            <a:ext cx="386715" cy="240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25</a:t>
            </a:r>
          </a:p>
        </p:txBody>
      </p:sp>
      <p:sp>
        <p:nvSpPr>
          <p:cNvPr id="81" name="文本框 80"/>
          <p:cNvSpPr txBox="1"/>
          <p:nvPr/>
        </p:nvSpPr>
        <p:spPr>
          <a:xfrm>
            <a:off x="198120" y="16573183"/>
            <a:ext cx="386715" cy="240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20</a:t>
            </a:r>
          </a:p>
          <a:p>
            <a:endParaRPr lang="en-US" altLang="zh-CN" sz="100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192405" y="16819563"/>
            <a:ext cx="386715" cy="240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15</a:t>
            </a:r>
          </a:p>
          <a:p>
            <a:endParaRPr lang="en-US" altLang="zh-CN" sz="100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93675" y="17048798"/>
            <a:ext cx="386715" cy="240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10</a:t>
            </a:r>
          </a:p>
          <a:p>
            <a:endParaRPr lang="en-US" altLang="zh-CN" sz="100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260350" y="17289463"/>
            <a:ext cx="386715" cy="240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0</a:t>
            </a:r>
          </a:p>
          <a:p>
            <a:endParaRPr lang="en-US" altLang="zh-CN" sz="1000">
              <a:latin typeface="Times New Roman" panose="02020603050405020304" charset="0"/>
              <a:ea typeface="楷体" panose="02010609060101010101" charset="-122"/>
              <a:cs typeface="Times New Roman" panose="02020603050405020304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351915" y="13568363"/>
            <a:ext cx="12096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4-9</a:t>
            </a:r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月降雨集中</a:t>
            </a:r>
          </a:p>
        </p:txBody>
      </p:sp>
      <p:sp>
        <p:nvSpPr>
          <p:cNvPr id="87" name="文本框 86"/>
          <p:cNvSpPr txBox="1"/>
          <p:nvPr/>
        </p:nvSpPr>
        <p:spPr>
          <a:xfrm>
            <a:off x="256540" y="13593128"/>
            <a:ext cx="38481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>
                <a:latin typeface="Times New Roman" panose="02020603050405020304" charset="0"/>
                <a:cs typeface="Times New Roman" panose="02020603050405020304" charset="0"/>
              </a:rPr>
              <a:t>600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249555" y="13799503"/>
            <a:ext cx="38481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>
                <a:latin typeface="Times New Roman" panose="02020603050405020304" charset="0"/>
                <a:cs typeface="Times New Roman" panose="02020603050405020304" charset="0"/>
              </a:rPr>
              <a:t>500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250190" y="14029373"/>
            <a:ext cx="38481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>
                <a:latin typeface="Times New Roman" panose="02020603050405020304" charset="0"/>
                <a:cs typeface="Times New Roman" panose="02020603050405020304" charset="0"/>
              </a:rPr>
              <a:t>400</a:t>
            </a:r>
          </a:p>
        </p:txBody>
      </p:sp>
      <p:sp>
        <p:nvSpPr>
          <p:cNvPr id="90" name="文本框 89"/>
          <p:cNvSpPr txBox="1"/>
          <p:nvPr/>
        </p:nvSpPr>
        <p:spPr>
          <a:xfrm>
            <a:off x="245110" y="14242098"/>
            <a:ext cx="38481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>
                <a:latin typeface="Times New Roman" panose="02020603050405020304" charset="0"/>
                <a:cs typeface="Times New Roman" panose="02020603050405020304" charset="0"/>
              </a:rPr>
              <a:t>300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239395" y="14454823"/>
            <a:ext cx="38481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>
                <a:latin typeface="Times New Roman" panose="02020603050405020304" charset="0"/>
                <a:cs typeface="Times New Roman" panose="02020603050405020304" charset="0"/>
              </a:rPr>
              <a:t>200</a:t>
            </a:r>
          </a:p>
        </p:txBody>
      </p:sp>
      <p:sp>
        <p:nvSpPr>
          <p:cNvPr id="92" name="文本框 91"/>
          <p:cNvSpPr txBox="1"/>
          <p:nvPr/>
        </p:nvSpPr>
        <p:spPr>
          <a:xfrm>
            <a:off x="232410" y="14673263"/>
            <a:ext cx="38481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>
                <a:latin typeface="Times New Roman" panose="02020603050405020304" charset="0"/>
                <a:cs typeface="Times New Roman" panose="02020603050405020304" charset="0"/>
              </a:rPr>
              <a:t>100</a:t>
            </a:r>
          </a:p>
        </p:txBody>
      </p:sp>
      <p:sp>
        <p:nvSpPr>
          <p:cNvPr id="93" name="文本框 92"/>
          <p:cNvSpPr txBox="1"/>
          <p:nvPr/>
        </p:nvSpPr>
        <p:spPr>
          <a:xfrm>
            <a:off x="346710" y="14897418"/>
            <a:ext cx="38481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>
                <a:latin typeface="Times New Roman" panose="02020603050405020304" charset="0"/>
                <a:cs typeface="Times New Roman" panose="02020603050405020304" charset="0"/>
              </a:rPr>
              <a:t>0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486410" y="15207933"/>
            <a:ext cx="22301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年平均降雨量约</a:t>
            </a:r>
            <a:r>
              <a:rPr lang="en-US" altLang="zh-CN" sz="12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1200-2000mm</a:t>
            </a:r>
          </a:p>
        </p:txBody>
      </p:sp>
      <p:sp>
        <p:nvSpPr>
          <p:cNvPr id="95" name="文本框 94"/>
          <p:cNvSpPr txBox="1"/>
          <p:nvPr/>
        </p:nvSpPr>
        <p:spPr>
          <a:xfrm>
            <a:off x="3052445" y="14033183"/>
            <a:ext cx="1108710" cy="465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 sz="16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75%~85%</a:t>
            </a:r>
            <a:endParaRPr lang="en-US" altLang="zh-CN" sz="12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 sz="1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1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年平均温度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7850505" y="14847253"/>
            <a:ext cx="22371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平均河谷密度</a:t>
            </a:r>
            <a:r>
              <a:rPr lang="en-US" altLang="zh-CN" sz="12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2.1~2.8km/km</a:t>
            </a:r>
            <a:r>
              <a:rPr lang="en-US" altLang="zh-CN" sz="1200" baseline="300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2</a:t>
            </a:r>
          </a:p>
        </p:txBody>
      </p:sp>
      <p:sp>
        <p:nvSpPr>
          <p:cNvPr id="105" name="文本框 104"/>
          <p:cNvSpPr txBox="1"/>
          <p:nvPr/>
        </p:nvSpPr>
        <p:spPr>
          <a:xfrm>
            <a:off x="8087360" y="15188683"/>
            <a:ext cx="19831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楷体" panose="02010609060101010101" charset="-122"/>
                <a:ea typeface="楷体" panose="02010609060101010101" charset="-122"/>
              </a:rPr>
              <a:t>河流密集，水系发达</a:t>
            </a:r>
          </a:p>
        </p:txBody>
      </p:sp>
      <p:sp>
        <p:nvSpPr>
          <p:cNvPr id="107" name="文本框 106"/>
          <p:cNvSpPr txBox="1"/>
          <p:nvPr/>
        </p:nvSpPr>
        <p:spPr>
          <a:xfrm>
            <a:off x="10666095" y="14048423"/>
            <a:ext cx="14712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全年云雾</a:t>
            </a:r>
          </a:p>
          <a:p>
            <a:r>
              <a:rPr lang="zh-CN" altLang="en-US" sz="1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天气占比</a:t>
            </a:r>
          </a:p>
          <a:p>
            <a:r>
              <a:rPr lang="en-US" altLang="zh-CN" sz="14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33%~44%</a:t>
            </a:r>
          </a:p>
        </p:txBody>
      </p:sp>
      <p:sp>
        <p:nvSpPr>
          <p:cNvPr id="108" name="文本框 107"/>
          <p:cNvSpPr txBox="1"/>
          <p:nvPr/>
        </p:nvSpPr>
        <p:spPr>
          <a:xfrm>
            <a:off x="10451465" y="15203488"/>
            <a:ext cx="16910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年均约</a:t>
            </a:r>
            <a:r>
              <a:rPr lang="en-US" altLang="zh-CN" sz="12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120~160</a:t>
            </a:r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天</a:t>
            </a:r>
          </a:p>
        </p:txBody>
      </p:sp>
      <p:sp>
        <p:nvSpPr>
          <p:cNvPr id="112" name="文本框 111"/>
          <p:cNvSpPr txBox="1"/>
          <p:nvPr/>
        </p:nvSpPr>
        <p:spPr>
          <a:xfrm>
            <a:off x="2104390" y="17304703"/>
            <a:ext cx="7124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latin typeface="楷体" panose="02010609060101010101" charset="-122"/>
                <a:ea typeface="楷体" panose="02010609060101010101" charset="-122"/>
              </a:rPr>
              <a:t>一般居民</a:t>
            </a:r>
          </a:p>
        </p:txBody>
      </p:sp>
      <p:sp>
        <p:nvSpPr>
          <p:cNvPr id="113" name="文本框 112"/>
          <p:cNvSpPr txBox="1"/>
          <p:nvPr/>
        </p:nvSpPr>
        <p:spPr>
          <a:xfrm>
            <a:off x="2732405" y="17300258"/>
            <a:ext cx="7124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latin typeface="楷体" panose="02010609060101010101" charset="-122"/>
                <a:ea typeface="楷体" panose="02010609060101010101" charset="-122"/>
              </a:rPr>
              <a:t>普通吊楼</a:t>
            </a:r>
          </a:p>
        </p:txBody>
      </p:sp>
      <p:sp>
        <p:nvSpPr>
          <p:cNvPr id="114" name="文本框 113"/>
          <p:cNvSpPr txBox="1"/>
          <p:nvPr/>
        </p:nvSpPr>
        <p:spPr>
          <a:xfrm>
            <a:off x="2090420" y="17527588"/>
            <a:ext cx="9353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0.3-0.6m</a:t>
            </a:r>
          </a:p>
        </p:txBody>
      </p:sp>
      <p:sp>
        <p:nvSpPr>
          <p:cNvPr id="115" name="文本框 114"/>
          <p:cNvSpPr txBox="1"/>
          <p:nvPr/>
        </p:nvSpPr>
        <p:spPr>
          <a:xfrm>
            <a:off x="2759075" y="17527588"/>
            <a:ext cx="9353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1.2-2.5m</a:t>
            </a:r>
          </a:p>
        </p:txBody>
      </p:sp>
      <p:sp>
        <p:nvSpPr>
          <p:cNvPr id="116" name="文本框 115"/>
          <p:cNvSpPr txBox="1"/>
          <p:nvPr/>
        </p:nvSpPr>
        <p:spPr>
          <a:xfrm>
            <a:off x="3447415" y="17527588"/>
            <a:ext cx="9353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2.5-3.5m</a:t>
            </a:r>
          </a:p>
        </p:txBody>
      </p:sp>
      <p:sp>
        <p:nvSpPr>
          <p:cNvPr id="118" name="文本框 117"/>
          <p:cNvSpPr txBox="1"/>
          <p:nvPr/>
        </p:nvSpPr>
        <p:spPr>
          <a:xfrm>
            <a:off x="2104390" y="17760803"/>
            <a:ext cx="260032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>
                <a:latin typeface="楷体" panose="02010609060101010101" charset="-122"/>
                <a:ea typeface="楷体" panose="02010609060101010101" charset="-122"/>
              </a:rPr>
              <a:t>架空高度越高，防潮防洪性能越好</a:t>
            </a:r>
          </a:p>
        </p:txBody>
      </p:sp>
      <p:sp>
        <p:nvSpPr>
          <p:cNvPr id="119" name="文本框 118"/>
          <p:cNvSpPr txBox="1"/>
          <p:nvPr/>
        </p:nvSpPr>
        <p:spPr>
          <a:xfrm>
            <a:off x="4265295" y="17741583"/>
            <a:ext cx="20389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穿堂风通风效率高、室内风速可达</a:t>
            </a:r>
            <a:r>
              <a:rPr lang="en-US" altLang="zh-CN" sz="10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0.3-0.8m/s</a:t>
            </a:r>
            <a:r>
              <a:rPr lang="en-US" altLang="zh-CN" sz="1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,</a:t>
            </a:r>
            <a:r>
              <a:rPr lang="zh-CN" altLang="en-US" sz="1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显著降低温度</a:t>
            </a:r>
          </a:p>
        </p:txBody>
      </p:sp>
      <p:sp>
        <p:nvSpPr>
          <p:cNvPr id="121" name="文本框 120"/>
          <p:cNvSpPr txBox="1"/>
          <p:nvPr/>
        </p:nvSpPr>
        <p:spPr>
          <a:xfrm>
            <a:off x="3392805" y="17302163"/>
            <a:ext cx="81407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latin typeface="楷体" panose="02010609060101010101" charset="-122"/>
                <a:ea typeface="楷体" panose="02010609060101010101" charset="-122"/>
              </a:rPr>
              <a:t>高脚吊楼</a:t>
            </a:r>
          </a:p>
        </p:txBody>
      </p:sp>
      <p:sp>
        <p:nvSpPr>
          <p:cNvPr id="122" name="文本框 121"/>
          <p:cNvSpPr txBox="1"/>
          <p:nvPr/>
        </p:nvSpPr>
        <p:spPr>
          <a:xfrm>
            <a:off x="6354445" y="16125508"/>
            <a:ext cx="8089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latin typeface="楷体" panose="02010609060101010101" charset="-122"/>
                <a:ea typeface="楷体" panose="02010609060101010101" charset="-122"/>
              </a:rPr>
              <a:t>碉石结构</a:t>
            </a:r>
          </a:p>
        </p:txBody>
      </p:sp>
      <p:sp>
        <p:nvSpPr>
          <p:cNvPr id="123" name="文本框 122"/>
          <p:cNvSpPr txBox="1"/>
          <p:nvPr/>
        </p:nvSpPr>
        <p:spPr>
          <a:xfrm>
            <a:off x="7360920" y="16125508"/>
            <a:ext cx="8089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latin typeface="楷体" panose="02010609060101010101" charset="-122"/>
                <a:ea typeface="楷体" panose="02010609060101010101" charset="-122"/>
              </a:rPr>
              <a:t>木结构</a:t>
            </a:r>
          </a:p>
        </p:txBody>
      </p:sp>
      <p:sp>
        <p:nvSpPr>
          <p:cNvPr id="125" name="文本框 124"/>
          <p:cNvSpPr txBox="1"/>
          <p:nvPr/>
        </p:nvSpPr>
        <p:spPr>
          <a:xfrm>
            <a:off x="7007225" y="16739553"/>
            <a:ext cx="599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vs</a:t>
            </a:r>
          </a:p>
        </p:txBody>
      </p:sp>
      <p:sp>
        <p:nvSpPr>
          <p:cNvPr id="126" name="文本框 125"/>
          <p:cNvSpPr txBox="1"/>
          <p:nvPr/>
        </p:nvSpPr>
        <p:spPr>
          <a:xfrm>
            <a:off x="6246495" y="17741583"/>
            <a:ext cx="204978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 smtClean="0">
                <a:latin typeface="楷体" panose="02010609060101010101" charset="-122"/>
                <a:ea typeface="楷体" panose="02010609060101010101" charset="-122"/>
              </a:rPr>
              <a:t> 刚性</a:t>
            </a:r>
            <a:r>
              <a:rPr lang="zh-CN" altLang="en-US" sz="900" dirty="0">
                <a:latin typeface="楷体" panose="02010609060101010101" charset="-122"/>
                <a:ea typeface="楷体" panose="02010609060101010101" charset="-122"/>
              </a:rPr>
              <a:t>大，易</a:t>
            </a:r>
            <a:r>
              <a:rPr lang="zh-CN" altLang="en-US" sz="900" dirty="0" smtClean="0">
                <a:latin typeface="楷体" panose="02010609060101010101" charset="-122"/>
                <a:ea typeface="楷体" panose="02010609060101010101" charset="-122"/>
              </a:rPr>
              <a:t>开裂  </a:t>
            </a:r>
            <a:r>
              <a:rPr lang="en-US" altLang="zh-CN" sz="900" dirty="0" smtClean="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en-US" sz="900" dirty="0">
                <a:latin typeface="楷体" panose="02010609060101010101" charset="-122"/>
                <a:ea typeface="楷体" panose="02010609060101010101" charset="-122"/>
              </a:rPr>
              <a:t>柔性大，能释放</a:t>
            </a:r>
          </a:p>
        </p:txBody>
      </p:sp>
      <p:sp>
        <p:nvSpPr>
          <p:cNvPr id="127" name="文本框 126"/>
          <p:cNvSpPr txBox="1"/>
          <p:nvPr/>
        </p:nvSpPr>
        <p:spPr>
          <a:xfrm>
            <a:off x="8211820" y="17722533"/>
            <a:ext cx="8572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>
                <a:latin typeface="楷体" panose="02010609060101010101" charset="-122"/>
                <a:ea typeface="楷体" panose="02010609060101010101" charset="-122"/>
              </a:rPr>
              <a:t> </a:t>
            </a:r>
            <a:r>
              <a:rPr lang="zh-CN" altLang="en-US" sz="1000">
                <a:latin typeface="楷体" panose="02010609060101010101" charset="-122"/>
                <a:ea typeface="楷体" panose="02010609060101010101" charset="-122"/>
              </a:rPr>
              <a:t>平地建造</a:t>
            </a:r>
          </a:p>
          <a:p>
            <a:r>
              <a:rPr lang="zh-CN" altLang="en-US" sz="1000">
                <a:latin typeface="楷体" panose="02010609060101010101" charset="-122"/>
                <a:ea typeface="楷体" panose="02010609060101010101" charset="-122"/>
              </a:rPr>
              <a:t>需大量平整</a:t>
            </a:r>
          </a:p>
        </p:txBody>
      </p:sp>
      <p:sp>
        <p:nvSpPr>
          <p:cNvPr id="128" name="文本框 127"/>
          <p:cNvSpPr txBox="1"/>
          <p:nvPr/>
        </p:nvSpPr>
        <p:spPr>
          <a:xfrm>
            <a:off x="9027160" y="17741583"/>
            <a:ext cx="10972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>
                <a:latin typeface="楷体" panose="02010609060101010101" charset="-122"/>
                <a:ea typeface="楷体" panose="02010609060101010101" charset="-122"/>
              </a:rPr>
              <a:t>吊脚楼建造顺地形，减少开挖</a:t>
            </a:r>
          </a:p>
        </p:txBody>
      </p:sp>
      <p:sp>
        <p:nvSpPr>
          <p:cNvPr id="129" name="文本框 128"/>
          <p:cNvSpPr txBox="1"/>
          <p:nvPr/>
        </p:nvSpPr>
        <p:spPr>
          <a:xfrm>
            <a:off x="4227195" y="18423573"/>
            <a:ext cx="11969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1F3B2F"/>
                </a:solidFill>
              </a:rPr>
              <a:t>匠心传承</a:t>
            </a:r>
          </a:p>
        </p:txBody>
      </p:sp>
      <p:sp>
        <p:nvSpPr>
          <p:cNvPr id="130" name="文本框 129"/>
          <p:cNvSpPr txBox="1"/>
          <p:nvPr/>
        </p:nvSpPr>
        <p:spPr>
          <a:xfrm>
            <a:off x="4203700" y="18760758"/>
            <a:ext cx="1590675" cy="607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dirty="0">
                <a:latin typeface="楷体" panose="02010609060101010101" charset="-122"/>
                <a:ea typeface="楷体" panose="02010609060101010101" charset="-122"/>
              </a:rPr>
              <a:t>传统营造技艺，</a:t>
            </a:r>
            <a:r>
              <a:rPr lang="zh-CN" altLang="en-US" sz="1600" dirty="0" smtClean="0">
                <a:latin typeface="楷体" panose="02010609060101010101" charset="-122"/>
                <a:ea typeface="楷体" panose="02010609060101010101" charset="-122"/>
              </a:rPr>
              <a:t>代代相传</a:t>
            </a:r>
            <a:endParaRPr lang="zh-CN" altLang="en-US" sz="16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1875790" y="18423573"/>
            <a:ext cx="11969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1F3B2F"/>
                </a:solidFill>
              </a:rPr>
              <a:t>山地智慧</a:t>
            </a:r>
          </a:p>
        </p:txBody>
      </p:sp>
      <p:sp>
        <p:nvSpPr>
          <p:cNvPr id="132" name="文本框 131"/>
          <p:cNvSpPr txBox="1"/>
          <p:nvPr/>
        </p:nvSpPr>
        <p:spPr>
          <a:xfrm>
            <a:off x="1848485" y="18760758"/>
            <a:ext cx="1590675" cy="607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dirty="0">
                <a:latin typeface="楷体" panose="02010609060101010101" charset="-122"/>
                <a:ea typeface="楷体" panose="02010609060101010101" charset="-122"/>
              </a:rPr>
              <a:t>顺应自然地形，因地制宜</a:t>
            </a:r>
            <a:r>
              <a:rPr lang="zh-CN" altLang="en-US" sz="1600" dirty="0" smtClean="0">
                <a:latin typeface="楷体" panose="02010609060101010101" charset="-122"/>
                <a:ea typeface="楷体" panose="02010609060101010101" charset="-122"/>
              </a:rPr>
              <a:t>建造</a:t>
            </a:r>
            <a:endParaRPr lang="zh-CN" altLang="en-US" sz="16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6673215" y="18423573"/>
            <a:ext cx="11969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1F3B2F"/>
                </a:solidFill>
              </a:rPr>
              <a:t>创新发展</a:t>
            </a:r>
          </a:p>
        </p:txBody>
      </p:sp>
      <p:sp>
        <p:nvSpPr>
          <p:cNvPr id="134" name="文本框 133"/>
          <p:cNvSpPr txBox="1"/>
          <p:nvPr/>
        </p:nvSpPr>
        <p:spPr>
          <a:xfrm>
            <a:off x="6647815" y="18745518"/>
            <a:ext cx="1713865" cy="607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dirty="0">
                <a:latin typeface="楷体" panose="02010609060101010101" charset="-122"/>
                <a:ea typeface="楷体" panose="02010609060101010101" charset="-122"/>
              </a:rPr>
              <a:t>现代技术融合，持续建筑</a:t>
            </a:r>
            <a:r>
              <a:rPr lang="zh-CN" altLang="en-US" sz="1600" dirty="0" smtClean="0">
                <a:latin typeface="楷体" panose="02010609060101010101" charset="-122"/>
                <a:ea typeface="楷体" panose="02010609060101010101" charset="-122"/>
              </a:rPr>
              <a:t>生命力</a:t>
            </a:r>
            <a:endParaRPr lang="zh-CN" altLang="en-US" sz="16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9170670" y="18423573"/>
            <a:ext cx="11969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solidFill>
                  <a:srgbClr val="1F3B2F"/>
                </a:solidFill>
              </a:rPr>
              <a:t>美好未来</a:t>
            </a:r>
          </a:p>
        </p:txBody>
      </p:sp>
      <p:sp>
        <p:nvSpPr>
          <p:cNvPr id="136" name="文本框 135"/>
          <p:cNvSpPr txBox="1"/>
          <p:nvPr/>
        </p:nvSpPr>
        <p:spPr>
          <a:xfrm>
            <a:off x="9125585" y="18745518"/>
            <a:ext cx="1713865" cy="6070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dirty="0">
                <a:latin typeface="楷体" panose="02010609060101010101" charset="-122"/>
                <a:ea typeface="楷体" panose="02010609060101010101" charset="-122"/>
              </a:rPr>
              <a:t>人与自然共生，建设美丽</a:t>
            </a:r>
            <a:r>
              <a:rPr lang="zh-CN" altLang="en-US" sz="1600" dirty="0" smtClean="0">
                <a:latin typeface="楷体" panose="02010609060101010101" charset="-122"/>
                <a:ea typeface="楷体" panose="02010609060101010101" charset="-122"/>
              </a:rPr>
              <a:t>乡村</a:t>
            </a:r>
            <a:endParaRPr lang="zh-CN" altLang="en-US" sz="16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80360" y="13568363"/>
            <a:ext cx="2275840" cy="1605280"/>
          </a:xfrm>
          <a:prstGeom prst="rect">
            <a:avLst/>
          </a:prstGeom>
          <a:solidFill>
            <a:srgbClr val="F2E8D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273550" y="13759498"/>
            <a:ext cx="9061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楷体" panose="02010609060101010101" charset="-122"/>
                <a:ea typeface="楷体" panose="02010609060101010101" charset="-122"/>
              </a:rPr>
              <a:t>&gt;</a:t>
            </a:r>
            <a:r>
              <a:rPr lang="en-US" altLang="zh-CN" sz="100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85</a:t>
            </a:r>
            <a:r>
              <a:rPr lang="en-US" altLang="zh-CN" sz="1000" dirty="0">
                <a:latin typeface="楷体" panose="02010609060101010101" charset="-122"/>
                <a:ea typeface="楷体" panose="02010609060101010101" charset="-122"/>
              </a:rPr>
              <a:t>% </a:t>
            </a:r>
            <a:r>
              <a:rPr lang="zh-CN" altLang="en-US" sz="1000" dirty="0">
                <a:solidFill>
                  <a:srgbClr val="29442F"/>
                </a:solidFill>
                <a:latin typeface="楷体" panose="02010609060101010101" charset="-122"/>
                <a:ea typeface="楷体" panose="02010609060101010101" charset="-122"/>
              </a:rPr>
              <a:t>高温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4273550" y="14066203"/>
            <a:ext cx="11499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75%-85%</a:t>
            </a:r>
            <a:r>
              <a:rPr lang="en-US" altLang="zh-CN" sz="10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1000" dirty="0">
                <a:solidFill>
                  <a:srgbClr val="29442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湿润</a:t>
            </a:r>
          </a:p>
        </p:txBody>
      </p:sp>
      <p:pic>
        <p:nvPicPr>
          <p:cNvPr id="42" name="图片 41" descr="5"/>
          <p:cNvPicPr>
            <a:picLocks noChangeAspect="1"/>
          </p:cNvPicPr>
          <p:nvPr/>
        </p:nvPicPr>
        <p:blipFill>
          <a:blip r:embed="rId10">
            <a:clrChange>
              <a:clrFrom>
                <a:srgbClr val="F0EADE">
                  <a:alpha val="100000"/>
                </a:srgbClr>
              </a:clrFrom>
              <a:clrTo>
                <a:srgbClr val="F0EADE">
                  <a:alpha val="100000"/>
                  <a:alpha val="0"/>
                </a:srgbClr>
              </a:clrTo>
            </a:clrChange>
          </a:blip>
          <a:srcRect l="4815" t="20449" r="29294" b="18204"/>
          <a:stretch>
            <a:fillRect/>
          </a:stretch>
        </p:blipFill>
        <p:spPr>
          <a:xfrm>
            <a:off x="2806700" y="13670598"/>
            <a:ext cx="1546860" cy="1440180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4273550" y="14383703"/>
            <a:ext cx="114998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60%-75%</a:t>
            </a:r>
            <a:r>
              <a:rPr lang="en-US" altLang="zh-CN" sz="10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10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较湿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4273550" y="14708823"/>
            <a:ext cx="10845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&lt;60% </a:t>
            </a:r>
            <a:r>
              <a:rPr lang="zh-CN" altLang="en-US" sz="10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相对干燥</a:t>
            </a:r>
          </a:p>
        </p:txBody>
      </p:sp>
      <p:sp>
        <p:nvSpPr>
          <p:cNvPr id="78" name="矩形 77"/>
          <p:cNvSpPr/>
          <p:nvPr/>
        </p:nvSpPr>
        <p:spPr>
          <a:xfrm>
            <a:off x="5316855" y="13640118"/>
            <a:ext cx="2153920" cy="1645920"/>
          </a:xfrm>
          <a:prstGeom prst="rect">
            <a:avLst/>
          </a:prstGeom>
          <a:solidFill>
            <a:srgbClr val="F2E8D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7" name="图片 96" descr="图片1"/>
          <p:cNvPicPr>
            <a:picLocks noChangeAspect="1"/>
          </p:cNvPicPr>
          <p:nvPr/>
        </p:nvPicPr>
        <p:blipFill>
          <a:blip r:embed="rId11"/>
          <a:srcRect l="23283" r="20981" b="10580"/>
          <a:stretch>
            <a:fillRect/>
          </a:stretch>
        </p:blipFill>
        <p:spPr>
          <a:xfrm>
            <a:off x="5516880" y="13598843"/>
            <a:ext cx="1767840" cy="1423035"/>
          </a:xfrm>
          <a:prstGeom prst="rect">
            <a:avLst/>
          </a:prstGeom>
        </p:spPr>
      </p:pic>
      <p:graphicFrame>
        <p:nvGraphicFramePr>
          <p:cNvPr id="110" name="表格 109"/>
          <p:cNvGraphicFramePr/>
          <p:nvPr>
            <p:custDataLst>
              <p:tags r:id="rId2"/>
            </p:custDataLst>
          </p:nvPr>
        </p:nvGraphicFramePr>
        <p:xfrm>
          <a:off x="5942965" y="13435013"/>
          <a:ext cx="1319530" cy="516255"/>
        </p:xfrm>
        <a:graphic>
          <a:graphicData uri="http://schemas.openxmlformats.org/drawingml/2006/table">
            <a:tbl>
              <a:tblPr/>
              <a:tblGrid>
                <a:gridCol w="1319530"/>
              </a:tblGrid>
              <a:tr h="51625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&gt;45°</a:t>
                      </a:r>
                    </a:p>
                    <a:p>
                      <a:pPr algn="ctr" fontAlgn="ctr"/>
                      <a:r>
                        <a:rPr lang="en-US" altLang="zh-CN" sz="1200" b="0" i="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18%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17" name="表格 116"/>
          <p:cNvGraphicFramePr/>
          <p:nvPr>
            <p:custDataLst>
              <p:tags r:id="rId3"/>
            </p:custDataLst>
          </p:nvPr>
        </p:nvGraphicFramePr>
        <p:xfrm>
          <a:off x="6930390" y="13890943"/>
          <a:ext cx="873760" cy="454660"/>
        </p:xfrm>
        <a:graphic>
          <a:graphicData uri="http://schemas.openxmlformats.org/drawingml/2006/table">
            <a:tbl>
              <a:tblPr/>
              <a:tblGrid>
                <a:gridCol w="873760"/>
              </a:tblGrid>
              <a:tr h="4546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35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°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-45°</a:t>
                      </a:r>
                    </a:p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20%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0" name="表格 119"/>
          <p:cNvGraphicFramePr/>
          <p:nvPr>
            <p:custDataLst>
              <p:tags r:id="rId4"/>
            </p:custDataLst>
          </p:nvPr>
        </p:nvGraphicFramePr>
        <p:xfrm>
          <a:off x="5078730" y="13923963"/>
          <a:ext cx="873760" cy="495300"/>
        </p:xfrm>
        <a:graphic>
          <a:graphicData uri="http://schemas.openxmlformats.org/drawingml/2006/table">
            <a:tbl>
              <a:tblPr/>
              <a:tblGrid>
                <a:gridCol w="873760"/>
              </a:tblGrid>
              <a:tr h="4953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0°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-15°</a:t>
                      </a:r>
                    </a:p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8%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4" name="表格 123"/>
          <p:cNvGraphicFramePr/>
          <p:nvPr>
            <p:custDataLst>
              <p:tags r:id="rId5"/>
            </p:custDataLst>
          </p:nvPr>
        </p:nvGraphicFramePr>
        <p:xfrm>
          <a:off x="6769735" y="14668183"/>
          <a:ext cx="864235" cy="495300"/>
        </p:xfrm>
        <a:graphic>
          <a:graphicData uri="http://schemas.openxmlformats.org/drawingml/2006/table">
            <a:tbl>
              <a:tblPr/>
              <a:tblGrid>
                <a:gridCol w="864235"/>
              </a:tblGrid>
              <a:tr h="4953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25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°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-35°</a:t>
                      </a:r>
                    </a:p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30%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37" name="表格 136"/>
          <p:cNvGraphicFramePr/>
          <p:nvPr>
            <p:custDataLst>
              <p:tags r:id="rId6"/>
            </p:custDataLst>
          </p:nvPr>
        </p:nvGraphicFramePr>
        <p:xfrm>
          <a:off x="5241290" y="14698663"/>
          <a:ext cx="873760" cy="474980"/>
        </p:xfrm>
        <a:graphic>
          <a:graphicData uri="http://schemas.openxmlformats.org/drawingml/2006/table">
            <a:tbl>
              <a:tblPr/>
              <a:tblGrid>
                <a:gridCol w="873760"/>
              </a:tblGrid>
              <a:tr h="4749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微软雅黑" panose="020B0503020204020204" charset="-122"/>
                          <a:cs typeface="Times New Roman" panose="02020603050405020304" charset="0"/>
                        </a:rPr>
                        <a:t>15°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-25°</a:t>
                      </a:r>
                    </a:p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" panose="02020603050405020304" charset="0"/>
                          <a:ea typeface="宋体" panose="02010600030101010101" pitchFamily="2" charset="-122"/>
                          <a:cs typeface="Times New Roman" panose="02020603050405020304" charset="0"/>
                        </a:rPr>
                        <a:t>24%</a:t>
                      </a:r>
                    </a:p>
                  </a:txBody>
                  <a:tcPr marL="7937" marR="7937" marT="793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8" name="文本框 137"/>
          <p:cNvSpPr txBox="1"/>
          <p:nvPr/>
        </p:nvSpPr>
        <p:spPr>
          <a:xfrm>
            <a:off x="5619115" y="15207933"/>
            <a:ext cx="22237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15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°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-45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°</a:t>
            </a:r>
            <a:r>
              <a:rPr lang="zh-CN" altLang="en-US" sz="12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坡地占比达</a:t>
            </a:r>
            <a:r>
              <a:rPr lang="en-US" altLang="zh-CN" sz="1200">
                <a:solidFill>
                  <a:srgbClr val="000000"/>
                </a:solidFill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  <a:sym typeface="+mn-ea"/>
              </a:rPr>
              <a:t>74%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346710" y="14995208"/>
            <a:ext cx="2613660" cy="19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00" dirty="0"/>
              <a:t>      </a:t>
            </a:r>
            <a:r>
              <a:rPr lang="en-US" altLang="zh-CN" sz="700" dirty="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zh-CN" altLang="en-US" sz="700" dirty="0">
                <a:latin typeface="Times New Roman" panose="02020603050405020304" charset="0"/>
                <a:cs typeface="Times New Roman" panose="02020603050405020304" charset="0"/>
              </a:rPr>
              <a:t>月</a:t>
            </a:r>
            <a:r>
              <a:rPr lang="en-US" altLang="zh-CN" sz="700" dirty="0">
                <a:latin typeface="Times New Roman" panose="02020603050405020304" charset="0"/>
                <a:cs typeface="Times New Roman" panose="02020603050405020304" charset="0"/>
              </a:rPr>
              <a:t>  2</a:t>
            </a:r>
            <a:r>
              <a:rPr lang="zh-CN" altLang="en-US" sz="700" dirty="0"/>
              <a:t>月</a:t>
            </a:r>
            <a:r>
              <a:rPr lang="en-US" altLang="zh-CN" sz="700" dirty="0"/>
              <a:t> </a:t>
            </a:r>
            <a:r>
              <a:rPr lang="en-US" altLang="zh-CN" sz="700" dirty="0">
                <a:latin typeface="Times New Roman" panose="02020603050405020304" charset="0"/>
                <a:cs typeface="Times New Roman" panose="02020603050405020304" charset="0"/>
              </a:rPr>
              <a:t>3</a:t>
            </a:r>
            <a:r>
              <a:rPr lang="zh-CN" altLang="en-US" sz="700" dirty="0"/>
              <a:t>月</a:t>
            </a:r>
            <a:r>
              <a:rPr lang="en-US" altLang="zh-CN" sz="700" dirty="0"/>
              <a:t> </a:t>
            </a:r>
            <a:r>
              <a:rPr lang="en-US" altLang="zh-CN" sz="700" dirty="0">
                <a:latin typeface="Times New Roman" panose="02020603050405020304" charset="0"/>
                <a:cs typeface="Times New Roman" panose="02020603050405020304" charset="0"/>
              </a:rPr>
              <a:t>4</a:t>
            </a:r>
            <a:r>
              <a:rPr lang="zh-CN" altLang="en-US" sz="700" dirty="0"/>
              <a:t>月</a:t>
            </a:r>
            <a:r>
              <a:rPr lang="en-US" altLang="zh-CN" sz="700" dirty="0"/>
              <a:t>  </a:t>
            </a:r>
            <a:r>
              <a:rPr lang="en-US" altLang="zh-CN" sz="700" dirty="0">
                <a:latin typeface="Times New Roman" panose="02020603050405020304" charset="0"/>
                <a:cs typeface="Times New Roman" panose="02020603050405020304" charset="0"/>
              </a:rPr>
              <a:t>5</a:t>
            </a:r>
            <a:r>
              <a:rPr lang="zh-CN" altLang="en-US" sz="700" dirty="0"/>
              <a:t>月 </a:t>
            </a:r>
            <a:r>
              <a:rPr lang="en-US" altLang="zh-CN" sz="700" dirty="0">
                <a:latin typeface="Times New Roman" panose="02020603050405020304" charset="0"/>
                <a:cs typeface="Times New Roman" panose="02020603050405020304" charset="0"/>
              </a:rPr>
              <a:t>6</a:t>
            </a:r>
            <a:r>
              <a:rPr lang="zh-CN" altLang="en-US" sz="700" dirty="0"/>
              <a:t>月  </a:t>
            </a:r>
            <a:r>
              <a:rPr lang="en-US" altLang="zh-CN" sz="700" dirty="0">
                <a:latin typeface="Times New Roman" panose="02020603050405020304" charset="0"/>
                <a:cs typeface="Times New Roman" panose="02020603050405020304" charset="0"/>
              </a:rPr>
              <a:t>7</a:t>
            </a:r>
            <a:r>
              <a:rPr lang="zh-CN" altLang="en-US" sz="700" dirty="0"/>
              <a:t>月  </a:t>
            </a:r>
            <a:r>
              <a:rPr lang="en-US" altLang="zh-CN" sz="700" dirty="0">
                <a:latin typeface="Times New Roman" panose="02020603050405020304" charset="0"/>
                <a:cs typeface="Times New Roman" panose="02020603050405020304" charset="0"/>
              </a:rPr>
              <a:t>8</a:t>
            </a:r>
            <a:r>
              <a:rPr lang="zh-CN" altLang="en-US" sz="700" dirty="0"/>
              <a:t>月 </a:t>
            </a:r>
            <a:r>
              <a:rPr lang="en-US" altLang="zh-CN" sz="700" dirty="0">
                <a:latin typeface="Times New Roman" panose="02020603050405020304" charset="0"/>
                <a:cs typeface="Times New Roman" panose="02020603050405020304" charset="0"/>
              </a:rPr>
              <a:t>9</a:t>
            </a:r>
            <a:r>
              <a:rPr lang="zh-CN" altLang="en-US" sz="700" dirty="0"/>
              <a:t>月 </a:t>
            </a:r>
            <a:r>
              <a:rPr lang="en-US" altLang="zh-CN" sz="700" dirty="0">
                <a:latin typeface="Times New Roman" panose="02020603050405020304" charset="0"/>
                <a:cs typeface="Times New Roman" panose="02020603050405020304" charset="0"/>
              </a:rPr>
              <a:t>10</a:t>
            </a:r>
            <a:r>
              <a:rPr lang="zh-CN" altLang="en-US" sz="700" dirty="0"/>
              <a:t>月</a:t>
            </a:r>
            <a:r>
              <a:rPr lang="en-US" altLang="zh-CN" sz="700" dirty="0">
                <a:latin typeface="Times New Roman" panose="02020603050405020304" charset="0"/>
                <a:cs typeface="Times New Roman" panose="02020603050405020304" charset="0"/>
              </a:rPr>
              <a:t>11</a:t>
            </a:r>
            <a:r>
              <a:rPr lang="zh-CN" altLang="en-US" sz="700" dirty="0"/>
              <a:t>月</a:t>
            </a:r>
            <a:r>
              <a:rPr lang="en-US" altLang="zh-CN" sz="700" dirty="0">
                <a:latin typeface="Times New Roman" panose="02020603050405020304" charset="0"/>
                <a:cs typeface="Times New Roman" panose="02020603050405020304" charset="0"/>
              </a:rPr>
              <a:t>12</a:t>
            </a:r>
            <a:r>
              <a:rPr lang="zh-CN" altLang="en-US" sz="700" dirty="0"/>
              <a:t>月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2794000" y="14160818"/>
            <a:ext cx="4679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40%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3204845" y="14765338"/>
            <a:ext cx="4679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15%</a:t>
            </a:r>
          </a:p>
        </p:txBody>
      </p:sp>
      <p:sp>
        <p:nvSpPr>
          <p:cNvPr id="98" name="文本框 97"/>
          <p:cNvSpPr txBox="1"/>
          <p:nvPr/>
        </p:nvSpPr>
        <p:spPr>
          <a:xfrm>
            <a:off x="3615055" y="13856653"/>
            <a:ext cx="4679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25%</a:t>
            </a:r>
          </a:p>
        </p:txBody>
      </p:sp>
      <p:sp>
        <p:nvSpPr>
          <p:cNvPr id="99" name="文本框 98"/>
          <p:cNvSpPr txBox="1"/>
          <p:nvPr/>
        </p:nvSpPr>
        <p:spPr>
          <a:xfrm>
            <a:off x="3702685" y="14552613"/>
            <a:ext cx="46799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20%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3107055" y="14223048"/>
            <a:ext cx="756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>
                <a:latin typeface="Times New Roman" panose="02020603050405020304" charset="0"/>
                <a:cs typeface="Times New Roman" panose="02020603050405020304" charset="0"/>
              </a:rPr>
              <a:t>  75%~85%</a:t>
            </a:r>
            <a:endParaRPr lang="en-US" altLang="zh-CN" sz="900"/>
          </a:p>
          <a:p>
            <a:r>
              <a:rPr lang="zh-CN" altLang="en-US" sz="900">
                <a:latin typeface="楷体" panose="02010609060101010101" charset="-122"/>
                <a:ea typeface="楷体" panose="02010609060101010101" charset="-122"/>
              </a:rPr>
              <a:t>年平均湿度</a:t>
            </a:r>
          </a:p>
        </p:txBody>
      </p:sp>
      <p:sp>
        <p:nvSpPr>
          <p:cNvPr id="101" name="文本框 100"/>
          <p:cNvSpPr txBox="1"/>
          <p:nvPr/>
        </p:nvSpPr>
        <p:spPr>
          <a:xfrm>
            <a:off x="2819400" y="15076488"/>
            <a:ext cx="239141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数据说明：该数据基于贵州典型山区气象观测统计，年平均湿度集中在</a:t>
            </a:r>
            <a:r>
              <a:rPr lang="en-US" altLang="zh-CN" sz="900" dirty="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75%~85%</a:t>
            </a:r>
            <a:r>
              <a:rPr lang="zh-CN" altLang="en-US" sz="9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之间，整体温度</a:t>
            </a:r>
            <a:r>
              <a:rPr lang="zh-CN" altLang="en-US" sz="900" dirty="0" smtClean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适宜</a:t>
            </a:r>
            <a:endParaRPr lang="zh-CN" altLang="en-US" sz="9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14300" y="1697673"/>
            <a:ext cx="63347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楷体" panose="02010609060101010101" charset="-122"/>
                <a:ea typeface="楷体" panose="02010609060101010101" charset="-122"/>
              </a:rPr>
              <a:t>吊脚楼作为贵州山地传统民居，体现了顺应自然环境与山地生活方式的建筑智慧，在当代焕发出新的生命力与社会价值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95580" y="2484438"/>
            <a:ext cx="1602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传</a:t>
            </a:r>
            <a:r>
              <a:rPr lang="en-US" altLang="zh-CN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统</a:t>
            </a:r>
            <a:r>
              <a:rPr lang="en-US" altLang="zh-CN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形</a:t>
            </a:r>
            <a:r>
              <a:rPr lang="en-US" altLang="zh-CN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态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050790" y="2519363"/>
            <a:ext cx="29546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现代应用与创新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5270" y="7100253"/>
            <a:ext cx="11741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顺应地形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148080" y="7100253"/>
            <a:ext cx="11741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架空防潮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025015" y="7100253"/>
            <a:ext cx="11741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通风散湿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985770" y="7100253"/>
            <a:ext cx="11741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木构抗震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432935" y="2975293"/>
            <a:ext cx="12382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233B2B"/>
                </a:solidFill>
                <a:latin typeface="楷体" panose="02010609060101010101" charset="-122"/>
                <a:ea typeface="楷体" panose="02010609060101010101" charset="-122"/>
              </a:rPr>
              <a:t>民宿改造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319645" y="2975293"/>
            <a:ext cx="14763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233B2B"/>
                </a:solidFill>
                <a:latin typeface="楷体" panose="02010609060101010101" charset="-122"/>
                <a:ea typeface="楷体" panose="02010609060101010101" charset="-122"/>
              </a:rPr>
              <a:t>文旅商业街区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045325" y="2935923"/>
            <a:ext cx="459105" cy="42418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lstStyle/>
          <a:p>
            <a:endParaRPr lang="zh-CN" altLang="en-US">
              <a:latin typeface="Calibri" panose="020F05020202040302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291445" y="2975293"/>
            <a:ext cx="14763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233B2B"/>
                </a:solidFill>
                <a:latin typeface="楷体" panose="02010609060101010101" charset="-122"/>
                <a:ea typeface="楷体" panose="02010609060101010101" charset="-122"/>
              </a:rPr>
              <a:t>文化研学基地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460875" y="6001068"/>
            <a:ext cx="12382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solidFill>
                  <a:srgbClr val="233B2B"/>
                </a:solidFill>
                <a:latin typeface="楷体" panose="02010609060101010101" charset="-122"/>
                <a:ea typeface="楷体" panose="02010609060101010101" charset="-122"/>
              </a:rPr>
              <a:t>非遗工坊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7388225" y="6001068"/>
            <a:ext cx="1198880" cy="3613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生态酒店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0309225" y="6001068"/>
            <a:ext cx="1905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</a:rPr>
              <a:t>景区观景建筑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4109085" y="5248593"/>
            <a:ext cx="289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latin typeface="楷体" panose="02010609060101010101" charset="-122"/>
                <a:ea typeface="楷体" panose="02010609060101010101" charset="-122"/>
              </a:rPr>
              <a:t>保留吊脚楼结构与风貌，融入观代舒适设施。打造高品质山地民宿体验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7031990" y="5248593"/>
            <a:ext cx="28968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楷体" panose="02010609060101010101" charset="-122"/>
                <a:ea typeface="楷体" panose="02010609060101010101" charset="-122"/>
              </a:rPr>
              <a:t>吊脚楼改造为特色商业空间，集合</a:t>
            </a:r>
            <a:r>
              <a:rPr lang="zh-CN" altLang="en-US" sz="1200" dirty="0" smtClean="0">
                <a:latin typeface="楷体" panose="02010609060101010101" charset="-122"/>
                <a:ea typeface="楷体" panose="02010609060101010101" charset="-122"/>
              </a:rPr>
              <a:t>餐饮、咖啡</a:t>
            </a:r>
            <a:r>
              <a:rPr lang="zh-CN" altLang="en-US" sz="1200" dirty="0">
                <a:latin typeface="楷体" panose="02010609060101010101" charset="-122"/>
                <a:ea typeface="楷体" panose="02010609060101010101" charset="-122"/>
              </a:rPr>
              <a:t>、非遣体验、文创等多种业态，激活乡村</a:t>
            </a:r>
            <a:r>
              <a:rPr lang="zh-CN" altLang="en-US" sz="1200" dirty="0" smtClean="0">
                <a:latin typeface="楷体" panose="02010609060101010101" charset="-122"/>
                <a:ea typeface="楷体" panose="02010609060101010101" charset="-122"/>
              </a:rPr>
              <a:t>经济</a:t>
            </a:r>
            <a:endParaRPr lang="zh-CN" altLang="en-US" sz="12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956800" y="5248593"/>
            <a:ext cx="289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楷体" panose="02010609060101010101" charset="-122"/>
                <a:ea typeface="楷体" panose="02010609060101010101" charset="-122"/>
              </a:rPr>
              <a:t>开展建筑文化研学课程，传承木构技艺，提升青少年文化认和与实践</a:t>
            </a:r>
            <a:r>
              <a:rPr lang="zh-CN" altLang="en-US" sz="1200" dirty="0" smtClean="0">
                <a:latin typeface="楷体" panose="02010609060101010101" charset="-122"/>
                <a:ea typeface="楷体" panose="02010609060101010101" charset="-122"/>
              </a:rPr>
              <a:t>能力</a:t>
            </a:r>
            <a:endParaRPr lang="zh-CN" altLang="en-US" sz="12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9966960" y="8264843"/>
            <a:ext cx="289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楷体" panose="02010609060101010101" charset="-122"/>
                <a:ea typeface="楷体" panose="02010609060101010101" charset="-122"/>
              </a:rPr>
              <a:t>建设观景平台、游客中心、栈道休憩节点，提升景区品质与游客</a:t>
            </a:r>
            <a:r>
              <a:rPr lang="zh-CN" altLang="en-US" sz="1200" dirty="0" smtClean="0">
                <a:latin typeface="楷体" panose="02010609060101010101" charset="-122"/>
                <a:ea typeface="楷体" panose="02010609060101010101" charset="-122"/>
              </a:rPr>
              <a:t>体验</a:t>
            </a:r>
            <a:endParaRPr lang="zh-CN" altLang="en-US" sz="12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031990" y="8285163"/>
            <a:ext cx="289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楷体" panose="02010609060101010101" charset="-122"/>
                <a:ea typeface="楷体" panose="02010609060101010101" charset="-122"/>
              </a:rPr>
              <a:t>将吊脚楼元素融入现代酒店设计，低碳环保，提供生态度假与康养旅居</a:t>
            </a:r>
            <a:r>
              <a:rPr lang="zh-CN" altLang="en-US" sz="1200" dirty="0" smtClean="0">
                <a:latin typeface="楷体" panose="02010609060101010101" charset="-122"/>
                <a:ea typeface="楷体" panose="02010609060101010101" charset="-122"/>
              </a:rPr>
              <a:t>体验</a:t>
            </a:r>
            <a:endParaRPr lang="zh-CN" altLang="en-US" sz="12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096385" y="8285163"/>
            <a:ext cx="28968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楷体" panose="02010609060101010101" charset="-122"/>
                <a:ea typeface="楷体" panose="02010609060101010101" charset="-122"/>
              </a:rPr>
              <a:t>传承木匠工艺与修复艺，进行古建修复、榫卯加工与木艺制作，保护非遗</a:t>
            </a:r>
            <a:r>
              <a:rPr lang="zh-CN" altLang="en-US" sz="1200" dirty="0" smtClean="0">
                <a:latin typeface="楷体" panose="02010609060101010101" charset="-122"/>
                <a:ea typeface="楷体" panose="02010609060101010101" charset="-122"/>
              </a:rPr>
              <a:t>技艺</a:t>
            </a:r>
            <a:endParaRPr lang="zh-CN" altLang="en-US" sz="1200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47395" y="8067993"/>
            <a:ext cx="269049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+mj-ea"/>
                <a:ea typeface="+mj-ea"/>
              </a:rPr>
              <a:t>乡村振兴引擎</a:t>
            </a:r>
          </a:p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以建筑活化带动乡村产业、就业与人才回流，促进共同富裕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755015" y="8865979"/>
            <a:ext cx="268287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+mj-ea"/>
                <a:ea typeface="+mj-ea"/>
              </a:rPr>
              <a:t>文化传播栽体</a:t>
            </a:r>
          </a:p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通过展觅、出版、影视、数字化等方式传播建筑文化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747395" y="9627556"/>
            <a:ext cx="2690495" cy="650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latin typeface="+mj-ea"/>
                <a:ea typeface="+mj-ea"/>
              </a:rPr>
              <a:t>绿色低碳实践</a:t>
            </a:r>
          </a:p>
          <a:p>
            <a:pPr indent="0" fontAlgn="auto"/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利用自然通风、被动式设计、可再生村料，降低能耗与碳排放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747395" y="10390188"/>
            <a:ext cx="2682240" cy="768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latin typeface="+mj-ea"/>
                <a:ea typeface="+mj-ea"/>
              </a:rPr>
              <a:t>社区公共空间</a:t>
            </a:r>
          </a:p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改造为图书馆、文化站、休闲广场等公共空间，提升社区活力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747395" y="11126153"/>
            <a:ext cx="26822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+mj-ea"/>
                <a:ea typeface="+mj-ea"/>
              </a:rPr>
              <a:t>科研与教学平台</a:t>
            </a:r>
          </a:p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作为高校建筑学、研究与实验基地，推动学术发展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747395" y="11960543"/>
            <a:ext cx="28359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+mj-ea"/>
                <a:ea typeface="+mj-ea"/>
              </a:rPr>
              <a:t>国际交流窗口</a:t>
            </a:r>
          </a:p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展示贵州建筑智慧，促进中外文化交流与合作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3491230" y="9300528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rgbClr val="233B2B"/>
                </a:solidFill>
                <a:latin typeface="Calibri" panose="020F0502020204030204" charset="0"/>
              </a:rPr>
              <a:t>❶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4144010" y="2954338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rgbClr val="233B2B"/>
                </a:solidFill>
                <a:latin typeface="Calibri" panose="020F0502020204030204" charset="0"/>
              </a:rPr>
              <a:t>❶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5351780" y="9300528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rgbClr val="233B2B"/>
                </a:solidFill>
                <a:latin typeface="Calibri" panose="020F0502020204030204" charset="0"/>
              </a:rPr>
              <a:t>❷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7045325" y="2957513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rgbClr val="233B2B"/>
                </a:solidFill>
                <a:latin typeface="Calibri" panose="020F0502020204030204" charset="0"/>
              </a:rPr>
              <a:t>❷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7212330" y="9300528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rgbClr val="233B2B"/>
                </a:solidFill>
                <a:latin typeface="Calibri" panose="020F0502020204030204" charset="0"/>
              </a:rPr>
              <a:t>❸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9994265" y="2968943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rgbClr val="233B2B"/>
                </a:solidFill>
                <a:latin typeface="Calibri" panose="020F0502020204030204" charset="0"/>
              </a:rPr>
              <a:t>❸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9072880" y="9300528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rgbClr val="233B2B"/>
                </a:solidFill>
                <a:latin typeface="Calibri" panose="020F0502020204030204" charset="0"/>
              </a:rPr>
              <a:t>❹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4144010" y="5986463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rgbClr val="233B2B"/>
                </a:solidFill>
                <a:latin typeface="Calibri" panose="020F0502020204030204" charset="0"/>
              </a:rPr>
              <a:t>❹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10933430" y="9300528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rgbClr val="233B2B"/>
                </a:solidFill>
                <a:latin typeface="Calibri" panose="020F0502020204030204" charset="0"/>
              </a:rPr>
              <a:t>❺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7092950" y="6001703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rgbClr val="233B2B"/>
                </a:solidFill>
                <a:latin typeface="Calibri" panose="020F0502020204030204" charset="0"/>
              </a:rPr>
              <a:t>❺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3491230" y="11309668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Times New Roman" panose="02020603050405020304" charset="0"/>
              </a:rPr>
              <a:t>❻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9994265" y="5986463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latin typeface="Calibri" panose="020F0502020204030204" charset="0"/>
              </a:rPr>
              <a:t>❻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5351780" y="11309668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rgbClr val="233B2B"/>
                </a:solidFill>
                <a:latin typeface="Calibri" panose="020F0502020204030204" charset="0"/>
              </a:rPr>
              <a:t>❼</a:t>
            </a:r>
          </a:p>
        </p:txBody>
      </p:sp>
      <p:sp>
        <p:nvSpPr>
          <p:cNvPr id="53" name="文本框 52"/>
          <p:cNvSpPr txBox="1"/>
          <p:nvPr/>
        </p:nvSpPr>
        <p:spPr>
          <a:xfrm>
            <a:off x="7212330" y="11309668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rgbClr val="233B2B"/>
                </a:solidFill>
                <a:latin typeface="Calibri" panose="020F0502020204030204" charset="0"/>
              </a:rPr>
              <a:t>❽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9072880" y="11309668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rgbClr val="233B2B"/>
                </a:solidFill>
                <a:latin typeface="Calibri" panose="020F0502020204030204" charset="0"/>
              </a:rPr>
              <a:t>❾</a:t>
            </a:r>
          </a:p>
        </p:txBody>
      </p:sp>
      <p:sp>
        <p:nvSpPr>
          <p:cNvPr id="55" name="文本框 54"/>
          <p:cNvSpPr txBox="1"/>
          <p:nvPr/>
        </p:nvSpPr>
        <p:spPr>
          <a:xfrm>
            <a:off x="10933430" y="11309668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>
                <a:solidFill>
                  <a:srgbClr val="233B2B"/>
                </a:solidFill>
                <a:latin typeface="Calibri" panose="020F0502020204030204" charset="0"/>
              </a:rPr>
              <a:t>❿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729990" y="9331643"/>
            <a:ext cx="14439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吊脚楼冰箱贴</a:t>
            </a:r>
            <a:r>
              <a:rPr lang="en-US" altLang="zh-CN" sz="1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</a:p>
        </p:txBody>
      </p:sp>
      <p:sp>
        <p:nvSpPr>
          <p:cNvPr id="57" name="文本框 56"/>
          <p:cNvSpPr txBox="1"/>
          <p:nvPr/>
        </p:nvSpPr>
        <p:spPr>
          <a:xfrm>
            <a:off x="5638165" y="9331643"/>
            <a:ext cx="14439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建筑模型摆件</a:t>
            </a:r>
            <a:r>
              <a:rPr lang="en-US" altLang="zh-CN" sz="1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</a:p>
        </p:txBody>
      </p:sp>
      <p:sp>
        <p:nvSpPr>
          <p:cNvPr id="58" name="文本框 57"/>
          <p:cNvSpPr txBox="1"/>
          <p:nvPr/>
        </p:nvSpPr>
        <p:spPr>
          <a:xfrm>
            <a:off x="7489190" y="9331643"/>
            <a:ext cx="14439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文创雪糕</a:t>
            </a:r>
            <a:r>
              <a:rPr lang="en-US" altLang="zh-CN" sz="1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</a:p>
        </p:txBody>
      </p:sp>
      <p:sp>
        <p:nvSpPr>
          <p:cNvPr id="59" name="文本框 58"/>
          <p:cNvSpPr txBox="1"/>
          <p:nvPr/>
        </p:nvSpPr>
        <p:spPr>
          <a:xfrm>
            <a:off x="9394190" y="9331643"/>
            <a:ext cx="14439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明信片套装</a:t>
            </a:r>
            <a:r>
              <a:rPr lang="en-US" altLang="zh-CN" sz="1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</a:p>
        </p:txBody>
      </p:sp>
      <p:sp>
        <p:nvSpPr>
          <p:cNvPr id="60" name="文本框 59"/>
          <p:cNvSpPr txBox="1"/>
          <p:nvPr/>
        </p:nvSpPr>
        <p:spPr>
          <a:xfrm>
            <a:off x="11252200" y="9331643"/>
            <a:ext cx="14439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钥匙扣</a:t>
            </a:r>
            <a:r>
              <a:rPr lang="en-US" altLang="zh-CN" sz="1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 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3760470" y="11325543"/>
            <a:ext cx="14439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帆布包</a:t>
            </a:r>
            <a:r>
              <a:rPr lang="en-US" altLang="zh-CN" sz="1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 sz="1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5671185" y="11325543"/>
            <a:ext cx="14439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茶具礼盒</a:t>
            </a:r>
            <a:r>
              <a:rPr lang="en-US" altLang="zh-CN" sz="1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7504430" y="11325543"/>
            <a:ext cx="14439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建筑拼图</a:t>
            </a:r>
            <a:r>
              <a:rPr lang="en-US" altLang="zh-CN" sz="1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9378950" y="11325543"/>
            <a:ext cx="14439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手机壳</a:t>
            </a:r>
            <a:r>
              <a:rPr lang="en-US" altLang="zh-CN" sz="1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11219180" y="11325543"/>
            <a:ext cx="14439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文创盲盒</a:t>
            </a:r>
            <a:r>
              <a:rPr lang="en-US" altLang="zh-CN" sz="1400" b="1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1286510" y="13719070"/>
            <a:ext cx="1412875" cy="290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>
                <a:solidFill>
                  <a:srgbClr val="233B2B"/>
                </a:solidFill>
                <a:latin typeface="+mj-ea"/>
                <a:ea typeface="+mj-ea"/>
              </a:rPr>
              <a:t>绿色低碳</a:t>
            </a:r>
          </a:p>
        </p:txBody>
      </p:sp>
      <p:sp>
        <p:nvSpPr>
          <p:cNvPr id="68" name="文本框 67"/>
          <p:cNvSpPr txBox="1"/>
          <p:nvPr/>
        </p:nvSpPr>
        <p:spPr>
          <a:xfrm>
            <a:off x="200025" y="13990186"/>
            <a:ext cx="22942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楷体" panose="02010609060101010101" charset="-122"/>
                <a:ea typeface="楷体" panose="02010609060101010101" charset="-122"/>
              </a:rPr>
              <a:t>自然通风与</a:t>
            </a:r>
            <a:r>
              <a:rPr lang="zh-CN" altLang="en-US" sz="1200" dirty="0" smtClean="0">
                <a:latin typeface="楷体" panose="02010609060101010101" charset="-122"/>
                <a:ea typeface="楷体" panose="02010609060101010101" charset="-122"/>
              </a:rPr>
              <a:t>采光，</a:t>
            </a:r>
            <a:r>
              <a:rPr lang="zh-CN" altLang="en-US" sz="1200" dirty="0">
                <a:latin typeface="楷体" panose="02010609060101010101" charset="-122"/>
                <a:ea typeface="楷体" panose="02010609060101010101" charset="-122"/>
              </a:rPr>
              <a:t>使用低炭材料，节能降耗，减少碳排放</a:t>
            </a:r>
          </a:p>
        </p:txBody>
      </p:sp>
      <p:sp>
        <p:nvSpPr>
          <p:cNvPr id="69" name="文本框 68"/>
          <p:cNvSpPr txBox="1"/>
          <p:nvPr/>
        </p:nvSpPr>
        <p:spPr>
          <a:xfrm>
            <a:off x="1021715" y="14485224"/>
            <a:ext cx="1412875" cy="290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>
                <a:solidFill>
                  <a:srgbClr val="233B2B"/>
                </a:solidFill>
                <a:latin typeface="+mj-ea"/>
                <a:ea typeface="+mj-ea"/>
              </a:rPr>
              <a:t>文旅融合</a:t>
            </a:r>
          </a:p>
        </p:txBody>
      </p:sp>
      <p:sp>
        <p:nvSpPr>
          <p:cNvPr id="70" name="文本框 69"/>
          <p:cNvSpPr txBox="1"/>
          <p:nvPr/>
        </p:nvSpPr>
        <p:spPr>
          <a:xfrm>
            <a:off x="267336" y="14773146"/>
            <a:ext cx="2194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楷体" panose="02010609060101010101" charset="-122"/>
                <a:ea typeface="楷体" panose="02010609060101010101" charset="-122"/>
              </a:rPr>
              <a:t>结合当地文化与旅游资源，</a:t>
            </a:r>
          </a:p>
          <a:p>
            <a:r>
              <a:rPr lang="zh-CN" altLang="en-US" sz="1200" dirty="0">
                <a:latin typeface="楷体" panose="02010609060101010101" charset="-122"/>
                <a:ea typeface="楷体" panose="02010609060101010101" charset="-122"/>
              </a:rPr>
              <a:t>打造沉漫式体验，促进产业</a:t>
            </a:r>
          </a:p>
          <a:p>
            <a:r>
              <a:rPr lang="zh-CN" altLang="en-US" sz="1200" dirty="0">
                <a:latin typeface="楷体" panose="02010609060101010101" charset="-122"/>
                <a:ea typeface="楷体" panose="02010609060101010101" charset="-122"/>
              </a:rPr>
              <a:t>融合发展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985837" y="15271010"/>
            <a:ext cx="132207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>
                <a:solidFill>
                  <a:srgbClr val="233B2B"/>
                </a:solidFill>
                <a:latin typeface="+mj-ea"/>
                <a:ea typeface="+mj-ea"/>
                <a:sym typeface="+mn-ea"/>
              </a:rPr>
              <a:t>建筑更新</a:t>
            </a:r>
          </a:p>
        </p:txBody>
      </p:sp>
      <p:sp>
        <p:nvSpPr>
          <p:cNvPr id="73" name="文本框 72"/>
          <p:cNvSpPr txBox="1"/>
          <p:nvPr/>
        </p:nvSpPr>
        <p:spPr>
          <a:xfrm>
            <a:off x="394636" y="15608195"/>
            <a:ext cx="1913271" cy="5175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 dirty="0">
                <a:latin typeface="楷体" panose="02010609060101010101" charset="-122"/>
                <a:ea typeface="楷体" panose="02010609060101010101" charset="-122"/>
              </a:rPr>
              <a:t>传统结构与现代动能结合，延迟建筑生命周期</a:t>
            </a:r>
          </a:p>
        </p:txBody>
      </p:sp>
      <p:sp>
        <p:nvSpPr>
          <p:cNvPr id="74" name="文本框 73"/>
          <p:cNvSpPr txBox="1"/>
          <p:nvPr/>
        </p:nvSpPr>
        <p:spPr>
          <a:xfrm>
            <a:off x="5688330" y="13590726"/>
            <a:ext cx="1412875" cy="290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233B2B"/>
                </a:solidFill>
                <a:latin typeface="+mj-ea"/>
                <a:ea typeface="+mj-ea"/>
              </a:rPr>
              <a:t>非遗传承</a:t>
            </a:r>
          </a:p>
        </p:txBody>
      </p:sp>
      <p:sp>
        <p:nvSpPr>
          <p:cNvPr id="75" name="文本框 74"/>
          <p:cNvSpPr txBox="1"/>
          <p:nvPr/>
        </p:nvSpPr>
        <p:spPr>
          <a:xfrm>
            <a:off x="5679837" y="13852599"/>
            <a:ext cx="30435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楷体" panose="02010609060101010101" charset="-122"/>
                <a:ea typeface="楷体" panose="02010609060101010101" charset="-122"/>
              </a:rPr>
              <a:t>保护与传承木构技艺，</a:t>
            </a:r>
          </a:p>
          <a:p>
            <a:r>
              <a:rPr lang="zh-CN" altLang="en-US" sz="1200" dirty="0">
                <a:latin typeface="楷体" panose="02010609060101010101" charset="-122"/>
                <a:ea typeface="楷体" panose="02010609060101010101" charset="-122"/>
              </a:rPr>
              <a:t>培养新一代工匠，</a:t>
            </a:r>
          </a:p>
          <a:p>
            <a:r>
              <a:rPr lang="zh-CN" altLang="en-US" sz="1200" dirty="0">
                <a:latin typeface="楷体" panose="02010609060101010101" charset="-122"/>
                <a:ea typeface="楷体" panose="02010609060101010101" charset="-122"/>
              </a:rPr>
              <a:t>延续传统文化根脉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5830570" y="14453092"/>
            <a:ext cx="1412875" cy="290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233B2B"/>
                </a:solidFill>
                <a:latin typeface="+mj-ea"/>
                <a:ea typeface="+mj-ea"/>
              </a:rPr>
              <a:t>青年消费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5830570" y="14698355"/>
            <a:ext cx="25247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楷体" panose="02010609060101010101" charset="-122"/>
                <a:ea typeface="楷体" panose="02010609060101010101" charset="-122"/>
              </a:rPr>
              <a:t>开发符合年轻群体审美</a:t>
            </a:r>
          </a:p>
          <a:p>
            <a:r>
              <a:rPr lang="zh-CN" altLang="en-US" sz="1200" dirty="0">
                <a:latin typeface="楷体" panose="02010609060101010101" charset="-122"/>
                <a:ea typeface="楷体" panose="02010609060101010101" charset="-122"/>
              </a:rPr>
              <a:t>的文创产品与体验项目，</a:t>
            </a:r>
          </a:p>
          <a:p>
            <a:r>
              <a:rPr lang="zh-CN" altLang="en-US" sz="1200" dirty="0">
                <a:latin typeface="楷体" panose="02010609060101010101" charset="-122"/>
                <a:ea typeface="楷体" panose="02010609060101010101" charset="-122"/>
              </a:rPr>
              <a:t>拓展消费群体</a:t>
            </a:r>
          </a:p>
        </p:txBody>
      </p:sp>
      <p:sp>
        <p:nvSpPr>
          <p:cNvPr id="78" name="文本框 77"/>
          <p:cNvSpPr txBox="1"/>
          <p:nvPr/>
        </p:nvSpPr>
        <p:spPr>
          <a:xfrm>
            <a:off x="5830570" y="15288364"/>
            <a:ext cx="1332230" cy="290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rgbClr val="233B2B"/>
                </a:solidFill>
                <a:latin typeface="+mj-ea"/>
                <a:ea typeface="+mj-ea"/>
              </a:rPr>
              <a:t>数字传播</a:t>
            </a:r>
          </a:p>
        </p:txBody>
      </p:sp>
      <p:sp>
        <p:nvSpPr>
          <p:cNvPr id="79" name="文本框 78"/>
          <p:cNvSpPr txBox="1"/>
          <p:nvPr/>
        </p:nvSpPr>
        <p:spPr>
          <a:xfrm>
            <a:off x="5822024" y="15516038"/>
            <a:ext cx="2246630" cy="680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通过短视频、数字</a:t>
            </a:r>
            <a:r>
              <a:rPr lang="en-US" altLang="zh-CN" sz="12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IP</a:t>
            </a:r>
            <a:r>
              <a:rPr lang="zh-CN" altLang="en-US" sz="12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、</a:t>
            </a:r>
          </a:p>
          <a:p>
            <a:r>
              <a:rPr lang="en-US" altLang="zh-CN" sz="1200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AR/VR</a:t>
            </a:r>
            <a:r>
              <a:rPr lang="zh-CN" altLang="en-US" sz="12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等数字技术，</a:t>
            </a:r>
          </a:p>
          <a:p>
            <a:r>
              <a:rPr lang="zh-CN" altLang="en-US" sz="12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扩大文化影响力</a:t>
            </a:r>
          </a:p>
        </p:txBody>
      </p:sp>
      <p:sp>
        <p:nvSpPr>
          <p:cNvPr id="80" name="文本框 79"/>
          <p:cNvSpPr txBox="1"/>
          <p:nvPr/>
        </p:nvSpPr>
        <p:spPr>
          <a:xfrm>
            <a:off x="7654290" y="13842048"/>
            <a:ext cx="37001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吊脚楼不仅是传统民居，</a:t>
            </a:r>
          </a:p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更成为文旅产业、非遗传承与文化消费</a:t>
            </a:r>
          </a:p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的重要载体，在观代设计与乡村振兴</a:t>
            </a:r>
          </a:p>
          <a:p>
            <a:r>
              <a:rPr lang="zh-CN" altLang="en-US" sz="1400" dirty="0">
                <a:latin typeface="楷体" panose="02010609060101010101" charset="-122"/>
                <a:ea typeface="楷体" panose="02010609060101010101" charset="-122"/>
              </a:rPr>
              <a:t>背景下焕发新的生命力</a:t>
            </a:r>
          </a:p>
        </p:txBody>
      </p:sp>
      <p:sp>
        <p:nvSpPr>
          <p:cNvPr id="81" name="文本框 80"/>
          <p:cNvSpPr txBox="1"/>
          <p:nvPr/>
        </p:nvSpPr>
        <p:spPr>
          <a:xfrm>
            <a:off x="7692390" y="15969933"/>
            <a:ext cx="11741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传统智慧</a:t>
            </a:r>
          </a:p>
        </p:txBody>
      </p:sp>
      <p:sp>
        <p:nvSpPr>
          <p:cNvPr id="82" name="文本框 81"/>
          <p:cNvSpPr txBox="1"/>
          <p:nvPr/>
        </p:nvSpPr>
        <p:spPr>
          <a:xfrm>
            <a:off x="8474075" y="15976918"/>
            <a:ext cx="11741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现代设计</a:t>
            </a:r>
          </a:p>
        </p:txBody>
      </p:sp>
      <p:sp>
        <p:nvSpPr>
          <p:cNvPr id="83" name="文本框 82"/>
          <p:cNvSpPr txBox="1"/>
          <p:nvPr/>
        </p:nvSpPr>
        <p:spPr>
          <a:xfrm>
            <a:off x="9196705" y="15983903"/>
            <a:ext cx="11741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乡村振兴</a:t>
            </a:r>
          </a:p>
        </p:txBody>
      </p:sp>
      <p:sp>
        <p:nvSpPr>
          <p:cNvPr id="84" name="文本框 83"/>
          <p:cNvSpPr txBox="1"/>
          <p:nvPr/>
        </p:nvSpPr>
        <p:spPr>
          <a:xfrm>
            <a:off x="9911080" y="15983903"/>
            <a:ext cx="117411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美好生活</a:t>
            </a:r>
          </a:p>
        </p:txBody>
      </p:sp>
      <p:sp>
        <p:nvSpPr>
          <p:cNvPr id="85" name="文本框 84"/>
          <p:cNvSpPr txBox="1"/>
          <p:nvPr/>
        </p:nvSpPr>
        <p:spPr>
          <a:xfrm>
            <a:off x="3157220" y="18932208"/>
            <a:ext cx="1555115" cy="425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>
                <a:solidFill>
                  <a:srgbClr val="233B2B"/>
                </a:solidFill>
                <a:latin typeface="楷体" panose="02010609060101010101" charset="-122"/>
                <a:ea typeface="楷体" panose="02010609060101010101" charset="-122"/>
              </a:rPr>
              <a:t>山地智慧</a:t>
            </a:r>
          </a:p>
        </p:txBody>
      </p:sp>
      <p:sp>
        <p:nvSpPr>
          <p:cNvPr id="86" name="文本框 85"/>
          <p:cNvSpPr txBox="1"/>
          <p:nvPr/>
        </p:nvSpPr>
        <p:spPr>
          <a:xfrm>
            <a:off x="5127625" y="18932208"/>
            <a:ext cx="1555115" cy="425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>
                <a:solidFill>
                  <a:srgbClr val="233B2B"/>
                </a:solidFill>
                <a:latin typeface="楷体" panose="02010609060101010101" charset="-122"/>
                <a:ea typeface="楷体" panose="02010609060101010101" charset="-122"/>
              </a:rPr>
              <a:t>匠心传承</a:t>
            </a:r>
          </a:p>
        </p:txBody>
      </p:sp>
      <p:sp>
        <p:nvSpPr>
          <p:cNvPr id="87" name="文本框 86"/>
          <p:cNvSpPr txBox="1"/>
          <p:nvPr/>
        </p:nvSpPr>
        <p:spPr>
          <a:xfrm>
            <a:off x="7142480" y="18932208"/>
            <a:ext cx="1555115" cy="425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>
                <a:solidFill>
                  <a:srgbClr val="233B2B"/>
                </a:solidFill>
                <a:latin typeface="楷体" panose="02010609060101010101" charset="-122"/>
                <a:ea typeface="楷体" panose="02010609060101010101" charset="-122"/>
              </a:rPr>
              <a:t>创新发展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9096375" y="18932208"/>
            <a:ext cx="1555115" cy="425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>
                <a:solidFill>
                  <a:srgbClr val="233B2B"/>
                </a:solidFill>
                <a:latin typeface="楷体" panose="02010609060101010101" charset="-122"/>
                <a:ea typeface="楷体" panose="02010609060101010101" charset="-122"/>
              </a:rPr>
              <a:t>美好未来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267335" y="7657148"/>
            <a:ext cx="23164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</a:rPr>
              <a:t>多元价值拓展方向</a:t>
            </a:r>
          </a:p>
        </p:txBody>
      </p:sp>
      <p:sp>
        <p:nvSpPr>
          <p:cNvPr id="90" name="文本框 89"/>
          <p:cNvSpPr txBox="1"/>
          <p:nvPr/>
        </p:nvSpPr>
        <p:spPr>
          <a:xfrm>
            <a:off x="4135755" y="8910638"/>
            <a:ext cx="2682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  <a:latin typeface="+mj-ea"/>
                <a:ea typeface="+mj-ea"/>
              </a:rPr>
              <a:t>文创与消费产品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256540" y="13351193"/>
            <a:ext cx="2143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创</a:t>
            </a:r>
            <a:r>
              <a:rPr lang="en-US" altLang="zh-CN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新</a:t>
            </a:r>
            <a:r>
              <a:rPr lang="en-US" altLang="zh-CN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方</a:t>
            </a:r>
            <a:r>
              <a:rPr lang="en-US" altLang="zh-CN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向</a:t>
            </a:r>
          </a:p>
        </p:txBody>
      </p:sp>
      <p:sp>
        <p:nvSpPr>
          <p:cNvPr id="92" name="文本框 91"/>
          <p:cNvSpPr txBox="1"/>
          <p:nvPr/>
        </p:nvSpPr>
        <p:spPr>
          <a:xfrm>
            <a:off x="7894955" y="13395643"/>
            <a:ext cx="21678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小</a:t>
            </a:r>
            <a:r>
              <a:rPr lang="en-US" altLang="zh-CN" b="1" dirty="0" smtClean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   </a:t>
            </a: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结</a:t>
            </a:r>
          </a:p>
        </p:txBody>
      </p:sp>
      <p:sp>
        <p:nvSpPr>
          <p:cNvPr id="93" name="文本框 92"/>
          <p:cNvSpPr txBox="1"/>
          <p:nvPr/>
        </p:nvSpPr>
        <p:spPr>
          <a:xfrm>
            <a:off x="233045" y="16245523"/>
            <a:ext cx="2495550" cy="3822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价</a:t>
            </a:r>
            <a:r>
              <a:rPr lang="en-US" altLang="zh-CN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值</a:t>
            </a:r>
            <a:r>
              <a:rPr lang="en-US" altLang="zh-CN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与</a:t>
            </a:r>
            <a:r>
              <a:rPr lang="en-US" altLang="zh-CN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意</a:t>
            </a:r>
            <a:r>
              <a:rPr lang="en-US" altLang="zh-CN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 </a:t>
            </a:r>
            <a:r>
              <a:rPr lang="zh-CN" altLang="en-US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义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800100" y="16627793"/>
            <a:ext cx="16459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>
                <a:solidFill>
                  <a:srgbClr val="233B2B"/>
                </a:solidFill>
                <a:latin typeface="+mj-ea"/>
                <a:ea typeface="+mj-ea"/>
                <a:sym typeface="+mn-ea"/>
              </a:rPr>
              <a:t>生态价值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800100" y="16878618"/>
            <a:ext cx="1809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latin typeface="楷体" panose="02010609060101010101" charset="-122"/>
                <a:ea typeface="楷体" panose="02010609060101010101" charset="-122"/>
              </a:rPr>
              <a:t>顺应自然环境，减少建筑对生态的影响，促进人与自然和谐共生</a:t>
            </a:r>
          </a:p>
        </p:txBody>
      </p:sp>
      <p:sp>
        <p:nvSpPr>
          <p:cNvPr id="98" name="文本框 97"/>
          <p:cNvSpPr txBox="1"/>
          <p:nvPr/>
        </p:nvSpPr>
        <p:spPr>
          <a:xfrm>
            <a:off x="160020" y="17523778"/>
            <a:ext cx="11487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减少碳排放</a:t>
            </a:r>
          </a:p>
          <a:p>
            <a:r>
              <a:rPr lang="zh-CN" altLang="en-US" sz="16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约</a:t>
            </a:r>
            <a:r>
              <a:rPr lang="en-US" altLang="zh-CN" sz="20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30%</a:t>
            </a:r>
          </a:p>
        </p:txBody>
      </p:sp>
      <p:sp>
        <p:nvSpPr>
          <p:cNvPr id="99" name="文本框 98"/>
          <p:cNvSpPr txBox="1"/>
          <p:nvPr/>
        </p:nvSpPr>
        <p:spPr>
          <a:xfrm>
            <a:off x="3322320" y="16620173"/>
            <a:ext cx="16459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>
                <a:solidFill>
                  <a:srgbClr val="233B2B"/>
                </a:solidFill>
                <a:latin typeface="+mj-ea"/>
                <a:ea typeface="+mj-ea"/>
                <a:sym typeface="+mn-ea"/>
              </a:rPr>
              <a:t>文化价值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3322320" y="16886873"/>
            <a:ext cx="1946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latin typeface="楷体" panose="02010609060101010101" charset="-122"/>
                <a:ea typeface="楷体" panose="02010609060101010101" charset="-122"/>
              </a:rPr>
              <a:t>承载民族文化与历史记忆，增强文化自信与认同感</a:t>
            </a:r>
          </a:p>
        </p:txBody>
      </p:sp>
      <p:sp>
        <p:nvSpPr>
          <p:cNvPr id="101" name="文本框 100"/>
          <p:cNvSpPr txBox="1"/>
          <p:nvPr/>
        </p:nvSpPr>
        <p:spPr>
          <a:xfrm>
            <a:off x="2446020" y="17493298"/>
            <a:ext cx="15995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非遗技艺保护传承</a:t>
            </a:r>
            <a:r>
              <a:rPr lang="en-US" altLang="zh-CN" sz="24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500+</a:t>
            </a:r>
            <a:r>
              <a:rPr lang="zh-CN" altLang="en-US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项</a:t>
            </a:r>
            <a:endParaRPr lang="zh-CN" altLang="en-US" sz="12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吊脚楼相关非遗项目</a:t>
            </a:r>
          </a:p>
        </p:txBody>
      </p:sp>
      <p:sp>
        <p:nvSpPr>
          <p:cNvPr id="102" name="文本框 101"/>
          <p:cNvSpPr txBox="1"/>
          <p:nvPr/>
        </p:nvSpPr>
        <p:spPr>
          <a:xfrm>
            <a:off x="6031230" y="16620173"/>
            <a:ext cx="16459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>
                <a:solidFill>
                  <a:srgbClr val="233B2B"/>
                </a:solidFill>
                <a:latin typeface="+mj-ea"/>
                <a:ea typeface="+mj-ea"/>
                <a:sym typeface="+mn-ea"/>
              </a:rPr>
              <a:t>经济价值</a:t>
            </a:r>
          </a:p>
        </p:txBody>
      </p:sp>
      <p:sp>
        <p:nvSpPr>
          <p:cNvPr id="103" name="文本框 102"/>
          <p:cNvSpPr txBox="1"/>
          <p:nvPr/>
        </p:nvSpPr>
        <p:spPr>
          <a:xfrm>
            <a:off x="8694420" y="16595408"/>
            <a:ext cx="16459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>
                <a:solidFill>
                  <a:srgbClr val="233B2B"/>
                </a:solidFill>
                <a:latin typeface="+mj-ea"/>
                <a:ea typeface="+mj-ea"/>
                <a:sym typeface="+mn-ea"/>
              </a:rPr>
              <a:t>教育价值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11145520" y="16595408"/>
            <a:ext cx="164592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>
                <a:solidFill>
                  <a:srgbClr val="233B2B"/>
                </a:solidFill>
                <a:latin typeface="+mj-ea"/>
                <a:ea typeface="+mj-ea"/>
                <a:sym typeface="+mn-ea"/>
              </a:rPr>
              <a:t>时代价值</a:t>
            </a:r>
          </a:p>
        </p:txBody>
      </p:sp>
      <p:sp>
        <p:nvSpPr>
          <p:cNvPr id="105" name="文本框 104"/>
          <p:cNvSpPr txBox="1"/>
          <p:nvPr/>
        </p:nvSpPr>
        <p:spPr>
          <a:xfrm>
            <a:off x="6031230" y="16886873"/>
            <a:ext cx="1946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latin typeface="楷体" panose="02010609060101010101" charset="-122"/>
                <a:ea typeface="楷体" panose="02010609060101010101" charset="-122"/>
              </a:rPr>
              <a:t>带动乡村旅游与相关产业，增加就业与居民收入</a:t>
            </a:r>
          </a:p>
        </p:txBody>
      </p:sp>
      <p:sp>
        <p:nvSpPr>
          <p:cNvPr id="106" name="文本框 105"/>
          <p:cNvSpPr txBox="1"/>
          <p:nvPr/>
        </p:nvSpPr>
        <p:spPr>
          <a:xfrm>
            <a:off x="5204460" y="17493298"/>
            <a:ext cx="150114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乡村旅游收入增长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约</a:t>
            </a:r>
            <a:r>
              <a:rPr lang="en-US" altLang="zh-CN" sz="24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25%/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</a:t>
            </a:r>
            <a:endParaRPr lang="zh-CN" altLang="en-US" sz="12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(</a:t>
            </a:r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部分县市统计</a:t>
            </a:r>
            <a:r>
              <a:rPr lang="en-US" altLang="zh-CN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)</a:t>
            </a:r>
          </a:p>
        </p:txBody>
      </p:sp>
      <p:sp>
        <p:nvSpPr>
          <p:cNvPr id="107" name="文本框 106"/>
          <p:cNvSpPr txBox="1"/>
          <p:nvPr/>
        </p:nvSpPr>
        <p:spPr>
          <a:xfrm>
            <a:off x="8694420" y="16878618"/>
            <a:ext cx="1819275" cy="452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>
                <a:latin typeface="楷体" panose="02010609060101010101" charset="-122"/>
                <a:ea typeface="楷体" panose="02010609060101010101" charset="-122"/>
              </a:rPr>
              <a:t>提供研学实践平台，培养文化传承与创新人才</a:t>
            </a:r>
          </a:p>
        </p:txBody>
      </p:sp>
      <p:sp>
        <p:nvSpPr>
          <p:cNvPr id="108" name="文本框 107"/>
          <p:cNvSpPr txBox="1"/>
          <p:nvPr/>
        </p:nvSpPr>
        <p:spPr>
          <a:xfrm>
            <a:off x="7830185" y="17532033"/>
            <a:ext cx="14357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开学基地数量增长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约</a:t>
            </a:r>
            <a:r>
              <a:rPr lang="en-US" altLang="zh-CN" sz="2400">
                <a:latin typeface="Times New Roman" panose="02020603050405020304" charset="0"/>
                <a:ea typeface="楷体" panose="02010609060101010101" charset="-122"/>
                <a:cs typeface="Times New Roman" panose="02020603050405020304" charset="0"/>
              </a:rPr>
              <a:t>40%/</a:t>
            </a:r>
            <a:r>
              <a:rPr lang="zh-CN" altLang="en-US" sz="20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</a:t>
            </a:r>
            <a:endParaRPr lang="zh-CN" altLang="en-US" sz="12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lang="en-US" altLang="zh-CN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(</a:t>
            </a:r>
            <a:r>
              <a:rPr lang="zh-CN" altLang="en-US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部分基地统计</a:t>
            </a:r>
            <a:r>
              <a:rPr lang="en-US" altLang="zh-CN" sz="12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)</a:t>
            </a:r>
          </a:p>
        </p:txBody>
      </p:sp>
      <p:sp>
        <p:nvSpPr>
          <p:cNvPr id="109" name="文本框 108"/>
          <p:cNvSpPr txBox="1"/>
          <p:nvPr/>
        </p:nvSpPr>
        <p:spPr>
          <a:xfrm>
            <a:off x="11145520" y="16864648"/>
            <a:ext cx="1819275" cy="7283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200">
                <a:latin typeface="楷体" panose="02010609060101010101" charset="-122"/>
                <a:ea typeface="楷体" panose="02010609060101010101" charset="-122"/>
              </a:rPr>
              <a:t>在新时代背景下，推动传统建筑创造性转化与创新性发展</a:t>
            </a:r>
          </a:p>
        </p:txBody>
      </p:sp>
      <p:sp>
        <p:nvSpPr>
          <p:cNvPr id="110" name="文本框 109"/>
          <p:cNvSpPr txBox="1"/>
          <p:nvPr/>
        </p:nvSpPr>
        <p:spPr>
          <a:xfrm>
            <a:off x="10397490" y="17539653"/>
            <a:ext cx="11137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latin typeface="楷体" panose="02010609060101010101" charset="-122"/>
                <a:ea typeface="楷体" panose="02010609060101010101" charset="-122"/>
              </a:rPr>
              <a:t>助力乡村振新，文化强国建设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3,&quot;left&quot;:30.1,&quot;top&quot;:190.9,&quot;width&quot;:976.15}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3,&quot;left&quot;:30.1,&quot;top&quot;:190.9,&quot;width&quot;:976.15}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3,&quot;left&quot;:30.1,&quot;top&quot;:190.9,&quot;width&quot;:976.15}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3,&quot;left&quot;:30.1,&quot;top&quot;:190.9,&quot;width&quot;:976.15}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3,&quot;left&quot;:30.1,&quot;top&quot;:190.9,&quot;width&quot;:976.15}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3,&quot;left&quot;:30.1,&quot;top&quot;:190.9,&quot;width&quot;:976.15}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3,&quot;left&quot;:30.1,&quot;top&quot;:190.9,&quot;width&quot;:976.15}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3,&quot;left&quot;:30.1,&quot;top&quot;:190.9,&quot;width&quot;:976.15}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3,&quot;left&quot;:30.1,&quot;top&quot;:190.9,&quot;width&quot;:976.15}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3,&quot;left&quot;:30.1,&quot;top&quot;:190.9,&quot;width&quot;:976.15}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3,&quot;left&quot;:30.1,&quot;top&quot;:190.9,&quot;width&quot;:976.15}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3,&quot;left&quot;:30.1,&quot;top&quot;:190.9,&quot;width&quot;:976.15}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04.3,&quot;left&quot;:30.1,&quot;top&quot;:190.9,&quot;width&quot;:976.15}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1.3499212598424,&quot;left&quot;:-2.35,&quot;top&quot;:233.8,&quot;width&quot;:175}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1.3499212598424,&quot;left&quot;:-2.35,&quot;top&quot;:233.8,&quot;width&quot;:175}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1.3499212598424,&quot;left&quot;:-2.35,&quot;top&quot;:233.8,&quot;width&quot;:175}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1.3499212598424,&quot;left&quot;:-2.35,&quot;top&quot;:233.8,&quot;width&quot;:175}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1.3499212598424,&quot;left&quot;:-2.35,&quot;top&quot;:233.8,&quot;width&quot;:175}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701.3499212598424,&quot;left&quot;:-2.35,&quot;top&quot;:233.8,&quot;width&quot;:175}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8.6,&quot;left&quot;:742.3,&quot;top&quot;:318.6,&quot;width&quot;:161.85}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8.6,&quot;left&quot;:742.3,&quot;top&quot;:318.6,&quot;width&quot;:161.85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8.6,&quot;left&quot;:742.3,&quot;top&quot;:318.6,&quot;width&quot;:161.85}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8.6,&quot;left&quot;:742.3,&quot;top&quot;:318.6,&quot;width&quot;:161.85}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8.6,&quot;left&quot;:742.3,&quot;top&quot;:318.6,&quot;width&quot;:161.85}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8.6,&quot;left&quot;:742.3,&quot;top&quot;:318.6,&quot;width&quot;:161.85}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8.6,&quot;left&quot;:742.3,&quot;top&quot;:318.6,&quot;width&quot;:161.85}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588.6,&quot;left&quot;:742.3,&quot;top&quot;:318.6,&quot;width&quot;:161.85}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  <p:tag name="RESOURCE_RECORD_KEY" val="{&quot;10&quot;:[19995594],&quot;65&quot;:[20205176]}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03*40"/>
  <p:tag name="TABLE_ENDDRAG_RECT" val="470*1060*103*40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8*36"/>
  <p:tag name="TABLE_ENDDRAG_RECT" val="414*1097*78*36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8*36"/>
  <p:tag name="TABLE_ENDDRAG_RECT" val="414*1097*78*36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8*36"/>
  <p:tag name="TABLE_ENDDRAG_RECT" val="414*1097*78*36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8*36"/>
  <p:tag name="TABLE_ENDDRAG_RECT" val="414*1097*78*36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2863</Words>
  <Application>Microsoft Office PowerPoint</Application>
  <PresentationFormat>自定义</PresentationFormat>
  <Paragraphs>594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6</vt:i4>
      </vt:variant>
    </vt:vector>
  </HeadingPairs>
  <TitlesOfParts>
    <vt:vector size="17" baseType="lpstr">
      <vt:lpstr>楷体</vt:lpstr>
      <vt:lpstr>宋体</vt:lpstr>
      <vt:lpstr>微软雅黑</vt:lpstr>
      <vt:lpstr>Arial</vt:lpstr>
      <vt:lpstr>Calibri</vt:lpstr>
      <vt:lpstr>Times New Roman</vt:lpstr>
      <vt:lpstr>Wingdings</vt:lpstr>
      <vt:lpstr>WPS</vt:lpstr>
      <vt:lpstr>1_WPS</vt:lpstr>
      <vt:lpstr>2_WPS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DINGTAO</dc:creator>
  <cp:lastModifiedBy>978700159@qq.com</cp:lastModifiedBy>
  <cp:revision>11</cp:revision>
  <dcterms:created xsi:type="dcterms:W3CDTF">2023-08-09T12:44:00Z</dcterms:created>
  <dcterms:modified xsi:type="dcterms:W3CDTF">2026-05-05T00:35:23Z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877A7418297F4689B37AF44BCD690BCC_12</vt:lpwstr>
  </property>
</Properties>
</file>